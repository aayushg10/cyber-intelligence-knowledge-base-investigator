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judges. We're presenting CyberInvestigator, an AI fraud network intelligence platform built for the ET AI Hackathon 2.0, under the Digital Public Safety track: defeating counterfeiting, fraud, and digital arrest scams.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million cybercrime complaints in India in 2023, up 60 percent year over year. Digital arrest scams alone cost citizens 1,776 crore rupees in just nine months of 2024. FICN seizures are hitting record highs too. The pattern behind these numbers: police get evidence one transaction at a time, after the money is already gone. What's missing is intelligence before mass victimisation, not more evidence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isn't another fraud classifier that flags individual suspicious transactions. It's a network intelligence platform. It finds coordinated rings via graph community detection, names the ringleader via betweenness centrality, scores every entity with an explainable fused model, reconstructs exactly when a ring became detectable, maps cross-jurisdiction spread, answers investigator questions live through a tool-calling agent that cites IDs, and seals court-admissible evidence with a hash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transaction and complaint data flows through entity resolution and feature engineering, into our scoring and graph engines, exposed through FastAPI with a hash-chained ledger, and rendered in a React command centre. The key point: detection runs entirely in-process with NetworkX, pandas and scikit-learn, no external graph database required. Neo4j and the LLM agent are optional enhancers wired in at the edges. Remove either one and the platform still runs and still detects rings. That's a deliberate scalability and reliability choice, not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number that matters most for business impact. On our demo dataset, one ring became detectable at victim number 3, yet 62 more victims fell afterward. Earlier action on this exact case would have stopped the majority of the harm. That's the difference between detecting fraud and preventing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score is explainable: a transparent rule engine, an IsolationForest anomaly model, and a supervised RandomForest are fused into one number, with human-readable reasons attached to every flag. Our supervised model scores a PR-AUC of 0.77, not an inflated 1.0. We specifically tested for and removed a data leak where account age alone gave the model an unfair shortcut. That's rigor,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produces a SHA-256 hash-chained Intelligence Package. Every package's hash is chained to the previous one. Tamper with any past record and the chain breaks, provably. That's a direct, checkable answer to the brief's requirement for auditability and legal admissibility.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police station ever sees the whole ring. DBSCAN geo-clustering and a live map show a ring's victims and mules spanning districts and states. We see the whole picture; they only see their slice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map directly onto the five judging criteria: Innovation, Business Impact, Technical Excellence, Scalability, and UX, each answered by a specific, checkable feature, not a marketing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this runs as a modular monolith, one process, clean internal boundaries. The path to national scale is well understood: split into microservices, move to queue-based ingestion. On the roadmap: XGBoost with SHAP for feature attribution, a live Neo4j-backed graph view, and a citizen-facing fraud-check widget.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CyberInvestigator: see the fraud network, not just the transaction. Repo link on screen,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F7FFF">
                  <a:alpha val="16000"/>
                </a:srgbClr>
              </a:gs>
              <a:gs pos="70000">
                <a:srgbClr val="4F7FFF">
                  <a:alpha val="0"/>
                </a:srgbClr>
              </a:gs>
            </a:gsLst>
            <a:path path="circle">
              <a:fillToRect l="82000" t="20000" r="18000" b="80000"/>
            </a:path>
          </a:gradFill>
          <a:ln/>
        </p:spPr>
      </p:sp>
      <p:pic>
        <p:nvPicPr>
          <p:cNvPr id="3" name="Image 0" descr="preencoded.png">    </p:cNvPr>
          <p:cNvPicPr>
            <a:picLocks noChangeAspect="1"/>
          </p:cNvPicPr>
          <p:nvPr/>
        </p:nvPicPr>
        <p:blipFill>
          <a:blip r:embed="rId1">
            <a:alphaModFix amt="55000"/>
            <a:extLst>
              <a:ext uri="{96DAC541-7B7A-43D3-8B79-37D633B846F1}">
                <asvg:svgBlip xmlns:asvg="http://schemas.microsoft.com/office/drawing/2016/SVG/main" r:embed="rId2"/>
              </a:ext>
            </a:extLst>
          </a:blip>
          <a:stretch>
            <a:fillRect/>
          </a:stretch>
        </p:blipFill>
        <p:spPr>
          <a:xfrm>
            <a:off x="13144500" y="2190750"/>
            <a:ext cx="5905500" cy="5905500"/>
          </a:xfrm>
          <a:prstGeom prst="rect">
            <a:avLst/>
          </a:prstGeom>
        </p:spPr>
      </p:pic>
      <p:sp>
        <p:nvSpPr>
          <p:cNvPr id="4" name="Text 1"/>
          <p:cNvSpPr/>
          <p:nvPr/>
        </p:nvSpPr>
        <p:spPr>
          <a:xfrm>
            <a:off x="1047750" y="3419475"/>
            <a:ext cx="17811750" cy="300038"/>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4F7FFF"/>
                </a:solidFill>
                <a:latin typeface="Arial" pitchFamily="34" charset="0"/>
                <a:ea typeface="Arial" pitchFamily="34" charset="-122"/>
                <a:cs typeface="Arial" pitchFamily="34" charset="-120"/>
              </a:rPr>
              <a:t>ET AI HACKATHON 2.0 · AI FOR DIGITAL PUBLIC SAFETY</a:t>
            </a:r>
            <a:endParaRPr lang="en-US" sz="1800" dirty="0"/>
          </a:p>
        </p:txBody>
      </p:sp>
      <p:sp>
        <p:nvSpPr>
          <p:cNvPr id="5" name="Text 2"/>
          <p:cNvSpPr/>
          <p:nvPr/>
        </p:nvSpPr>
        <p:spPr>
          <a:xfrm>
            <a:off x="1047750" y="3948112"/>
            <a:ext cx="17811750" cy="1295400"/>
          </a:xfrm>
          <a:prstGeom prst="rect">
            <a:avLst/>
          </a:prstGeom>
          <a:noFill/>
          <a:ln/>
        </p:spPr>
        <p:txBody>
          <a:bodyPr wrap="square" lIns="25400" tIns="25400" rIns="25400" bIns="25400" rtlCol="0" anchor="t">
            <a:normAutofit/>
          </a:bodyPr>
          <a:lstStyle/>
          <a:p>
            <a:pPr algn="l" indent="0" marL="0">
              <a:lnSpc>
                <a:spcPct val="86842"/>
              </a:lnSpc>
              <a:buNone/>
            </a:pPr>
            <a:r>
              <a:rPr lang="en-US" sz="9900" b="1" spc="-225" kern="0" dirty="0">
                <a:solidFill>
                  <a:srgbClr val="F4F6FB"/>
                </a:solidFill>
                <a:latin typeface="Arial" pitchFamily="34" charset="0"/>
                <a:ea typeface="Arial" pitchFamily="34" charset="-122"/>
                <a:cs typeface="Arial" pitchFamily="34" charset="-120"/>
              </a:rPr>
              <a:t>CyberInvestigator</a:t>
            </a:r>
            <a:endParaRPr lang="en-US" sz="9900" dirty="0"/>
          </a:p>
        </p:txBody>
      </p:sp>
      <p:sp>
        <p:nvSpPr>
          <p:cNvPr id="6" name="Text 3"/>
          <p:cNvSpPr/>
          <p:nvPr/>
        </p:nvSpPr>
        <p:spPr>
          <a:xfrm>
            <a:off x="1047750" y="5510213"/>
            <a:ext cx="12573000" cy="500063"/>
          </a:xfrm>
          <a:prstGeom prst="rect">
            <a:avLst/>
          </a:prstGeom>
          <a:noFill/>
          <a:ln/>
        </p:spPr>
        <p:txBody>
          <a:bodyPr wrap="square" lIns="25400" tIns="25400" rIns="25400" bIns="25400" rtlCol="0" anchor="t">
            <a:normAutofit/>
          </a:bodyPr>
          <a:lstStyle/>
          <a:p>
            <a:pPr algn="l" indent="0" marL="0">
              <a:buNone/>
            </a:pPr>
            <a:r>
              <a:rPr lang="en-US" sz="3000" dirty="0">
                <a:solidFill>
                  <a:srgbClr val="98A2B8"/>
                </a:solidFill>
                <a:latin typeface="Arial" pitchFamily="34" charset="0"/>
                <a:ea typeface="Arial" pitchFamily="34" charset="-122"/>
                <a:cs typeface="Arial" pitchFamily="34" charset="-120"/>
              </a:rPr>
              <a:t>See the fraud network, not just the transaction.</a:t>
            </a:r>
            <a:endParaRPr lang="en-US" sz="3000" dirty="0"/>
          </a:p>
        </p:txBody>
      </p:sp>
      <p:sp>
        <p:nvSpPr>
          <p:cNvPr id="7" name="Text 4"/>
          <p:cNvSpPr/>
          <p:nvPr/>
        </p:nvSpPr>
        <p:spPr>
          <a:xfrm>
            <a:off x="1047750" y="6581775"/>
            <a:ext cx="178117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Team CyberInvestigator</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5872"/>
                </a:solidFill>
                <a:latin typeface="Arial" pitchFamily="34" charset="0"/>
                <a:ea typeface="Arial" pitchFamily="34" charset="-122"/>
                <a:cs typeface="Arial" pitchFamily="34" charset="-120"/>
              </a:rPr>
              <a:t>THE PROBLEM</a:t>
            </a:r>
            <a:endParaRPr lang="en-US" sz="1650" dirty="0"/>
          </a:p>
        </p:txBody>
      </p:sp>
      <p:sp>
        <p:nvSpPr>
          <p:cNvPr id="3" name="Text 1"/>
          <p:cNvSpPr/>
          <p:nvPr/>
        </p:nvSpPr>
        <p:spPr>
          <a:xfrm>
            <a:off x="1047750" y="1381125"/>
            <a:ext cx="14716125" cy="1704975"/>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Investigators get evidence after the fact, not intelligence before mass victimisation</a:t>
            </a:r>
            <a:endParaRPr lang="en-US" sz="5700" dirty="0"/>
          </a:p>
        </p:txBody>
      </p:sp>
      <p:sp>
        <p:nvSpPr>
          <p:cNvPr id="4" name="Shape 2"/>
          <p:cNvSpPr/>
          <p:nvPr/>
        </p:nvSpPr>
        <p:spPr>
          <a:xfrm>
            <a:off x="1047750" y="3505200"/>
            <a:ext cx="5143500" cy="6019800"/>
          </a:xfrm>
          <a:prstGeom prst="rect">
            <a:avLst/>
          </a:prstGeom>
          <a:ln w="9525">
            <a:solidFill>
              <a:srgbClr val="F4F6FB">
                <a:alpha val="12000"/>
              </a:srgbClr>
            </a:solidFill>
            <a:prstDash val="solid"/>
          </a:ln>
        </p:spPr>
      </p:sp>
      <p:sp>
        <p:nvSpPr>
          <p:cNvPr id="5" name="Text 3"/>
          <p:cNvSpPr/>
          <p:nvPr/>
        </p:nvSpPr>
        <p:spPr>
          <a:xfrm>
            <a:off x="1438275" y="5591175"/>
            <a:ext cx="4798695" cy="1090613"/>
          </a:xfrm>
          <a:prstGeom prst="rect">
            <a:avLst/>
          </a:prstGeom>
          <a:noFill/>
          <a:ln/>
        </p:spPr>
        <p:txBody>
          <a:bodyPr wrap="square" lIns="25400" tIns="25400" rIns="25400" bIns="25400" rtlCol="0" anchor="t">
            <a:normAutofit/>
          </a:bodyPr>
          <a:lstStyle/>
          <a:p>
            <a:pPr algn="l" indent="0" marL="0">
              <a:buNone/>
            </a:pPr>
            <a:r>
              <a:rPr lang="en-US" sz="7200" b="1" spc="-150" kern="0" dirty="0">
                <a:solidFill>
                  <a:srgbClr val="FF5872"/>
                </a:solidFill>
                <a:latin typeface="Arial" pitchFamily="34" charset="0"/>
                <a:ea typeface="Arial" pitchFamily="34" charset="-122"/>
                <a:cs typeface="Arial" pitchFamily="34" charset="-120"/>
              </a:rPr>
              <a:t>1.14M</a:t>
            </a:r>
            <a:endParaRPr lang="en-US" sz="7200" dirty="0"/>
          </a:p>
        </p:txBody>
      </p:sp>
      <p:sp>
        <p:nvSpPr>
          <p:cNvPr id="6" name="Text 4"/>
          <p:cNvSpPr/>
          <p:nvPr/>
        </p:nvSpPr>
        <p:spPr>
          <a:xfrm>
            <a:off x="1438275" y="6796088"/>
            <a:ext cx="479869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cybercrime complaints in India in 2023</a:t>
            </a:r>
            <a:endParaRPr lang="en-US" sz="1950" dirty="0"/>
          </a:p>
        </p:txBody>
      </p:sp>
      <p:sp>
        <p:nvSpPr>
          <p:cNvPr id="7" name="Text 5"/>
          <p:cNvSpPr/>
          <p:nvPr/>
        </p:nvSpPr>
        <p:spPr>
          <a:xfrm>
            <a:off x="1438275" y="7158038"/>
            <a:ext cx="47986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up 60% year over year</a:t>
            </a:r>
            <a:endParaRPr lang="en-US" sz="1800" dirty="0"/>
          </a:p>
        </p:txBody>
      </p:sp>
      <p:sp>
        <p:nvSpPr>
          <p:cNvPr id="8" name="Shape 6"/>
          <p:cNvSpPr/>
          <p:nvPr/>
        </p:nvSpPr>
        <p:spPr>
          <a:xfrm>
            <a:off x="6572250" y="3505200"/>
            <a:ext cx="5143500" cy="6019800"/>
          </a:xfrm>
          <a:prstGeom prst="rect">
            <a:avLst/>
          </a:prstGeom>
          <a:ln w="9525">
            <a:solidFill>
              <a:srgbClr val="F4F6FB">
                <a:alpha val="12000"/>
              </a:srgbClr>
            </a:solidFill>
            <a:prstDash val="solid"/>
          </a:ln>
        </p:spPr>
      </p:sp>
      <p:sp>
        <p:nvSpPr>
          <p:cNvPr id="9" name="Text 7"/>
          <p:cNvSpPr/>
          <p:nvPr/>
        </p:nvSpPr>
        <p:spPr>
          <a:xfrm>
            <a:off x="6962775" y="5591175"/>
            <a:ext cx="4798695" cy="1090613"/>
          </a:xfrm>
          <a:prstGeom prst="rect">
            <a:avLst/>
          </a:prstGeom>
          <a:noFill/>
          <a:ln/>
        </p:spPr>
        <p:txBody>
          <a:bodyPr wrap="square" lIns="25400" tIns="25400" rIns="25400" bIns="25400" rtlCol="0" anchor="t">
            <a:normAutofit/>
          </a:bodyPr>
          <a:lstStyle/>
          <a:p>
            <a:pPr algn="l" indent="0" marL="0">
              <a:buNone/>
            </a:pPr>
            <a:r>
              <a:rPr lang="en-US" sz="7200" b="1" spc="-150" kern="0" dirty="0">
                <a:solidFill>
                  <a:srgbClr val="FF5872"/>
                </a:solidFill>
                <a:latin typeface="Arial" pitchFamily="34" charset="0"/>
                <a:ea typeface="Arial" pitchFamily="34" charset="-122"/>
                <a:cs typeface="Arial" pitchFamily="34" charset="-120"/>
              </a:rPr>
              <a:t>₹1,776 Cr</a:t>
            </a:r>
            <a:endParaRPr lang="en-US" sz="7200" dirty="0"/>
          </a:p>
        </p:txBody>
      </p:sp>
      <p:sp>
        <p:nvSpPr>
          <p:cNvPr id="10" name="Text 8"/>
          <p:cNvSpPr/>
          <p:nvPr/>
        </p:nvSpPr>
        <p:spPr>
          <a:xfrm>
            <a:off x="6962775" y="6796088"/>
            <a:ext cx="479869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lost to digital arrest scams</a:t>
            </a:r>
            <a:endParaRPr lang="en-US" sz="1950" dirty="0"/>
          </a:p>
        </p:txBody>
      </p:sp>
      <p:sp>
        <p:nvSpPr>
          <p:cNvPr id="11" name="Text 9"/>
          <p:cNvSpPr/>
          <p:nvPr/>
        </p:nvSpPr>
        <p:spPr>
          <a:xfrm>
            <a:off x="6962775" y="7158038"/>
            <a:ext cx="47986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first nine months of 2024 alone</a:t>
            </a:r>
            <a:endParaRPr lang="en-US" sz="1800" dirty="0"/>
          </a:p>
        </p:txBody>
      </p:sp>
      <p:sp>
        <p:nvSpPr>
          <p:cNvPr id="12" name="Shape 10"/>
          <p:cNvSpPr/>
          <p:nvPr/>
        </p:nvSpPr>
        <p:spPr>
          <a:xfrm>
            <a:off x="12096750" y="3505200"/>
            <a:ext cx="5143500" cy="6019800"/>
          </a:xfrm>
          <a:prstGeom prst="rect">
            <a:avLst/>
          </a:prstGeom>
          <a:ln w="9525">
            <a:solidFill>
              <a:srgbClr val="F4F6FB">
                <a:alpha val="12000"/>
              </a:srgbClr>
            </a:solidFill>
            <a:prstDash val="solid"/>
          </a:ln>
        </p:spPr>
      </p:sp>
      <p:sp>
        <p:nvSpPr>
          <p:cNvPr id="13" name="Text 11"/>
          <p:cNvSpPr/>
          <p:nvPr/>
        </p:nvSpPr>
        <p:spPr>
          <a:xfrm>
            <a:off x="12487275" y="5530751"/>
            <a:ext cx="4493324" cy="1211461"/>
          </a:xfrm>
          <a:prstGeom prst="rect">
            <a:avLst/>
          </a:prstGeom>
          <a:noFill/>
          <a:ln/>
        </p:spPr>
        <p:txBody>
          <a:bodyPr wrap="square" lIns="25400" tIns="25400" rIns="25400" bIns="25400" rtlCol="0" anchor="t">
            <a:normAutofit/>
          </a:bodyPr>
          <a:lstStyle/>
          <a:p>
            <a:pPr algn="l" indent="0" marL="0">
              <a:lnSpc>
                <a:spcPct val="95504"/>
              </a:lnSpc>
              <a:buNone/>
            </a:pPr>
            <a:r>
              <a:rPr lang="en-US" sz="4200" b="1" spc="-75" kern="0" dirty="0">
                <a:solidFill>
                  <a:srgbClr val="FF5872"/>
                </a:solidFill>
                <a:latin typeface="Arial" pitchFamily="34" charset="0"/>
                <a:ea typeface="Arial" pitchFamily="34" charset="-122"/>
                <a:cs typeface="Arial" pitchFamily="34" charset="-120"/>
              </a:rPr>
              <a:t>Record FICN seizures</a:t>
            </a:r>
            <a:endParaRPr lang="en-US" sz="4200" dirty="0"/>
          </a:p>
        </p:txBody>
      </p:sp>
      <p:sp>
        <p:nvSpPr>
          <p:cNvPr id="14" name="Text 12"/>
          <p:cNvSpPr/>
          <p:nvPr/>
        </p:nvSpPr>
        <p:spPr>
          <a:xfrm>
            <a:off x="12487275" y="6856512"/>
            <a:ext cx="479869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nationwide, and climbing</a:t>
            </a:r>
            <a:endParaRPr lang="en-US" sz="1950" dirty="0"/>
          </a:p>
        </p:txBody>
      </p:sp>
      <p:sp>
        <p:nvSpPr>
          <p:cNvPr id="15" name="Text 13"/>
          <p:cNvSpPr/>
          <p:nvPr/>
        </p:nvSpPr>
        <p:spPr>
          <a:xfrm>
            <a:off x="12487275" y="7218462"/>
            <a:ext cx="479869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industrialised, multi-state operations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OUR APPROACH</a:t>
            </a:r>
            <a:endParaRPr lang="en-US" sz="1650" dirty="0"/>
          </a:p>
        </p:txBody>
      </p:sp>
      <p:sp>
        <p:nvSpPr>
          <p:cNvPr id="3" name="Text 1"/>
          <p:cNvSpPr/>
          <p:nvPr/>
        </p:nvSpPr>
        <p:spPr>
          <a:xfrm>
            <a:off x="1047750" y="1381125"/>
            <a:ext cx="15697200" cy="1352550"/>
          </a:xfrm>
          <a:prstGeom prst="rect">
            <a:avLst/>
          </a:prstGeom>
          <a:noFill/>
          <a:ln/>
        </p:spPr>
        <p:txBody>
          <a:bodyPr wrap="square" lIns="25400" tIns="25400" rIns="25400" bIns="25400" rtlCol="0" anchor="t">
            <a:normAutofit/>
          </a:bodyPr>
          <a:lstStyle/>
          <a:p>
            <a:pPr algn="l" indent="0" marL="0">
              <a:buNone/>
            </a:pPr>
            <a:r>
              <a:rPr lang="en-US" sz="4500" b="1" spc="-75" kern="0" dirty="0">
                <a:solidFill>
                  <a:srgbClr val="F4F6FB"/>
                </a:solidFill>
                <a:latin typeface="Arial" pitchFamily="34" charset="0"/>
                <a:ea typeface="Arial" pitchFamily="34" charset="-122"/>
                <a:cs typeface="Arial" pitchFamily="34" charset="-120"/>
              </a:rPr>
              <a:t>A fraud </a:t>
            </a:r>
            <a:pPr algn="l" indent="0" marL="0">
              <a:buNone/>
            </a:pPr>
            <a:r>
              <a:rPr lang="en-US" sz="4500" b="1" spc="-75" kern="0" dirty="0">
                <a:solidFill>
                  <a:srgbClr val="4F7FFF"/>
                </a:solidFill>
                <a:latin typeface="Arial" pitchFamily="34" charset="0"/>
                <a:ea typeface="Arial" pitchFamily="34" charset="-122"/>
                <a:cs typeface="Arial" pitchFamily="34" charset="-120"/>
              </a:rPr>
              <a:t>network intelligence </a:t>
            </a:r>
            <a:pPr algn="l" indent="0" marL="0">
              <a:buNone/>
            </a:pPr>
            <a:r>
              <a:rPr lang="en-US" sz="4500" b="1" spc="-75" kern="0" dirty="0">
                <a:solidFill>
                  <a:srgbClr val="F4F6FB"/>
                </a:solidFill>
                <a:latin typeface="Arial" pitchFamily="34" charset="0"/>
                <a:ea typeface="Arial" pitchFamily="34" charset="-122"/>
                <a:cs typeface="Arial" pitchFamily="34" charset="-120"/>
              </a:rPr>
              <a:t>platform — not another fraud classifier</a:t>
            </a:r>
            <a:endParaRPr lang="en-US" sz="4500" dirty="0"/>
          </a:p>
        </p:txBody>
      </p:sp>
      <p:sp>
        <p:nvSpPr>
          <p:cNvPr id="4" name="Text 2"/>
          <p:cNvSpPr/>
          <p:nvPr/>
        </p:nvSpPr>
        <p:spPr>
          <a:xfrm>
            <a:off x="1047750" y="4657725"/>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4F7FFF"/>
                </a:solidFill>
                <a:latin typeface="Arial" pitchFamily="34" charset="0"/>
                <a:ea typeface="Arial" pitchFamily="34" charset="-122"/>
                <a:cs typeface="Arial" pitchFamily="34" charset="-120"/>
              </a:rPr>
              <a:t>01</a:t>
            </a:r>
            <a:endParaRPr lang="en-US" sz="2700" dirty="0"/>
          </a:p>
        </p:txBody>
      </p:sp>
      <p:sp>
        <p:nvSpPr>
          <p:cNvPr id="5" name="Text 3"/>
          <p:cNvSpPr/>
          <p:nvPr/>
        </p:nvSpPr>
        <p:spPr>
          <a:xfrm>
            <a:off x="1752600" y="4657725"/>
            <a:ext cx="738827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Detects coordinated fraud rings</a:t>
            </a:r>
            <a:endParaRPr lang="en-US" sz="2100" dirty="0"/>
          </a:p>
        </p:txBody>
      </p:sp>
      <p:sp>
        <p:nvSpPr>
          <p:cNvPr id="6" name="Text 4"/>
          <p:cNvSpPr/>
          <p:nvPr/>
        </p:nvSpPr>
        <p:spPr>
          <a:xfrm>
            <a:off x="1752600" y="5024438"/>
            <a:ext cx="738827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Louvain community detection over shared devices, UPI, money flow</a:t>
            </a:r>
            <a:endParaRPr lang="en-US" sz="1650" dirty="0"/>
          </a:p>
        </p:txBody>
      </p:sp>
      <p:sp>
        <p:nvSpPr>
          <p:cNvPr id="7" name="Text 5"/>
          <p:cNvSpPr/>
          <p:nvPr/>
        </p:nvSpPr>
        <p:spPr>
          <a:xfrm>
            <a:off x="9410700" y="4657725"/>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4F7FFF"/>
                </a:solidFill>
                <a:latin typeface="Arial" pitchFamily="34" charset="0"/>
                <a:ea typeface="Arial" pitchFamily="34" charset="-122"/>
                <a:cs typeface="Arial" pitchFamily="34" charset="-120"/>
              </a:rPr>
              <a:t>02</a:t>
            </a:r>
            <a:endParaRPr lang="en-US" sz="2700" dirty="0"/>
          </a:p>
        </p:txBody>
      </p:sp>
      <p:sp>
        <p:nvSpPr>
          <p:cNvPr id="8" name="Text 6"/>
          <p:cNvSpPr/>
          <p:nvPr/>
        </p:nvSpPr>
        <p:spPr>
          <a:xfrm>
            <a:off x="10115550" y="4657725"/>
            <a:ext cx="631801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Identifies the ringleader</a:t>
            </a:r>
            <a:endParaRPr lang="en-US" sz="2100" dirty="0"/>
          </a:p>
        </p:txBody>
      </p:sp>
      <p:sp>
        <p:nvSpPr>
          <p:cNvPr id="9" name="Text 7"/>
          <p:cNvSpPr/>
          <p:nvPr/>
        </p:nvSpPr>
        <p:spPr>
          <a:xfrm>
            <a:off x="10115550" y="5024438"/>
            <a:ext cx="6318014"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Betweenness centrality on the directed money-flow graph</a:t>
            </a:r>
            <a:endParaRPr lang="en-US" sz="1650" dirty="0"/>
          </a:p>
        </p:txBody>
      </p:sp>
      <p:sp>
        <p:nvSpPr>
          <p:cNvPr id="10" name="Text 8"/>
          <p:cNvSpPr/>
          <p:nvPr/>
        </p:nvSpPr>
        <p:spPr>
          <a:xfrm>
            <a:off x="1047750" y="5548313"/>
            <a:ext cx="540767"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4F7FFF"/>
                </a:solidFill>
                <a:latin typeface="Arial" pitchFamily="34" charset="0"/>
                <a:ea typeface="Arial" pitchFamily="34" charset="-122"/>
                <a:cs typeface="Arial" pitchFamily="34" charset="-120"/>
              </a:rPr>
              <a:t>03</a:t>
            </a:r>
            <a:endParaRPr lang="en-US" sz="2700" dirty="0"/>
          </a:p>
        </p:txBody>
      </p:sp>
      <p:sp>
        <p:nvSpPr>
          <p:cNvPr id="11" name="Text 9"/>
          <p:cNvSpPr/>
          <p:nvPr/>
        </p:nvSpPr>
        <p:spPr>
          <a:xfrm>
            <a:off x="1721867" y="5548313"/>
            <a:ext cx="7870976"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Scores every entity, explainably</a:t>
            </a:r>
            <a:endParaRPr lang="en-US" sz="2100" dirty="0"/>
          </a:p>
        </p:txBody>
      </p:sp>
      <p:sp>
        <p:nvSpPr>
          <p:cNvPr id="12" name="Text 10"/>
          <p:cNvSpPr/>
          <p:nvPr/>
        </p:nvSpPr>
        <p:spPr>
          <a:xfrm>
            <a:off x="1721867" y="5915025"/>
            <a:ext cx="7370096" cy="552450"/>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Rules + IsolationForest + RandomForest, fused with human-readable reasons</a:t>
            </a:r>
            <a:endParaRPr lang="en-US" sz="1650" dirty="0"/>
          </a:p>
        </p:txBody>
      </p:sp>
      <p:sp>
        <p:nvSpPr>
          <p:cNvPr id="13" name="Text 11"/>
          <p:cNvSpPr/>
          <p:nvPr/>
        </p:nvSpPr>
        <p:spPr>
          <a:xfrm>
            <a:off x="9410700" y="5548313"/>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FFC257"/>
                </a:solidFill>
                <a:latin typeface="Arial" pitchFamily="34" charset="0"/>
                <a:ea typeface="Arial" pitchFamily="34" charset="-122"/>
                <a:cs typeface="Arial" pitchFamily="34" charset="-120"/>
              </a:rPr>
              <a:t>04</a:t>
            </a:r>
            <a:endParaRPr lang="en-US" sz="2700" dirty="0"/>
          </a:p>
        </p:txBody>
      </p:sp>
      <p:sp>
        <p:nvSpPr>
          <p:cNvPr id="14" name="Text 12"/>
          <p:cNvSpPr/>
          <p:nvPr/>
        </p:nvSpPr>
        <p:spPr>
          <a:xfrm>
            <a:off x="10115550" y="5548313"/>
            <a:ext cx="6829447"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Reconstructs the lead-time story</a:t>
            </a:r>
            <a:endParaRPr lang="en-US" sz="2100" dirty="0"/>
          </a:p>
        </p:txBody>
      </p:sp>
      <p:sp>
        <p:nvSpPr>
          <p:cNvPr id="15" name="Text 13"/>
          <p:cNvSpPr/>
          <p:nvPr/>
        </p:nvSpPr>
        <p:spPr>
          <a:xfrm>
            <a:off x="10115550" y="5915025"/>
            <a:ext cx="6829447"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When a ring became detectable vs. how many victims fell after</a:t>
            </a:r>
            <a:endParaRPr lang="en-US" sz="1650" dirty="0"/>
          </a:p>
        </p:txBody>
      </p:sp>
      <p:sp>
        <p:nvSpPr>
          <p:cNvPr id="16" name="Text 14"/>
          <p:cNvSpPr/>
          <p:nvPr/>
        </p:nvSpPr>
        <p:spPr>
          <a:xfrm>
            <a:off x="1047750" y="6696075"/>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4F7FFF"/>
                </a:solidFill>
                <a:latin typeface="Arial" pitchFamily="34" charset="0"/>
                <a:ea typeface="Arial" pitchFamily="34" charset="-122"/>
                <a:cs typeface="Arial" pitchFamily="34" charset="-120"/>
              </a:rPr>
              <a:t>05</a:t>
            </a:r>
            <a:endParaRPr lang="en-US" sz="2700" dirty="0"/>
          </a:p>
        </p:txBody>
      </p:sp>
      <p:sp>
        <p:nvSpPr>
          <p:cNvPr id="17" name="Text 15"/>
          <p:cNvSpPr/>
          <p:nvPr/>
        </p:nvSpPr>
        <p:spPr>
          <a:xfrm>
            <a:off x="1752600" y="6696075"/>
            <a:ext cx="553588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Maps cross-jurisdiction spread</a:t>
            </a:r>
            <a:endParaRPr lang="en-US" sz="2100" dirty="0"/>
          </a:p>
        </p:txBody>
      </p:sp>
      <p:sp>
        <p:nvSpPr>
          <p:cNvPr id="18" name="Text 16"/>
          <p:cNvSpPr/>
          <p:nvPr/>
        </p:nvSpPr>
        <p:spPr>
          <a:xfrm>
            <a:off x="1752600" y="7062788"/>
            <a:ext cx="553588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DBSCAN geo-clustering across districts and states</a:t>
            </a:r>
            <a:endParaRPr lang="en-US" sz="1650" dirty="0"/>
          </a:p>
        </p:txBody>
      </p:sp>
      <p:sp>
        <p:nvSpPr>
          <p:cNvPr id="19" name="Text 17"/>
          <p:cNvSpPr/>
          <p:nvPr/>
        </p:nvSpPr>
        <p:spPr>
          <a:xfrm>
            <a:off x="9410700" y="6696075"/>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4F7FFF"/>
                </a:solidFill>
                <a:latin typeface="Arial" pitchFamily="34" charset="0"/>
                <a:ea typeface="Arial" pitchFamily="34" charset="-122"/>
                <a:cs typeface="Arial" pitchFamily="34" charset="-120"/>
              </a:rPr>
              <a:t>06</a:t>
            </a:r>
            <a:endParaRPr lang="en-US" sz="2700" dirty="0"/>
          </a:p>
        </p:txBody>
      </p:sp>
      <p:sp>
        <p:nvSpPr>
          <p:cNvPr id="20" name="Text 18"/>
          <p:cNvSpPr/>
          <p:nvPr/>
        </p:nvSpPr>
        <p:spPr>
          <a:xfrm>
            <a:off x="10115550" y="6696075"/>
            <a:ext cx="5725954"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Answers investigator questions live</a:t>
            </a:r>
            <a:endParaRPr lang="en-US" sz="2100" dirty="0"/>
          </a:p>
        </p:txBody>
      </p:sp>
      <p:sp>
        <p:nvSpPr>
          <p:cNvPr id="21" name="Text 19"/>
          <p:cNvSpPr/>
          <p:nvPr/>
        </p:nvSpPr>
        <p:spPr>
          <a:xfrm>
            <a:off x="10115550" y="7062788"/>
            <a:ext cx="5725954"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Tool-calling LLM agent, cites entity &amp; transaction IDs</a:t>
            </a:r>
            <a:endParaRPr lang="en-US" sz="1650" dirty="0"/>
          </a:p>
        </p:txBody>
      </p:sp>
      <p:sp>
        <p:nvSpPr>
          <p:cNvPr id="22" name="Text 20"/>
          <p:cNvSpPr/>
          <p:nvPr/>
        </p:nvSpPr>
        <p:spPr>
          <a:xfrm>
            <a:off x="1047750" y="8901113"/>
            <a:ext cx="5715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35D499"/>
                </a:solidFill>
                <a:latin typeface="Arial" pitchFamily="34" charset="0"/>
                <a:ea typeface="Arial" pitchFamily="34" charset="-122"/>
                <a:cs typeface="Arial" pitchFamily="34" charset="-120"/>
              </a:rPr>
              <a:t>07</a:t>
            </a:r>
            <a:endParaRPr lang="en-US" sz="2700" dirty="0"/>
          </a:p>
        </p:txBody>
      </p:sp>
      <p:sp>
        <p:nvSpPr>
          <p:cNvPr id="23" name="Text 21"/>
          <p:cNvSpPr/>
          <p:nvPr/>
        </p:nvSpPr>
        <p:spPr>
          <a:xfrm>
            <a:off x="1752600" y="8901113"/>
            <a:ext cx="7233895"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Seals court-admissible evidence</a:t>
            </a:r>
            <a:endParaRPr lang="en-US" sz="2100" dirty="0"/>
          </a:p>
        </p:txBody>
      </p:sp>
      <p:sp>
        <p:nvSpPr>
          <p:cNvPr id="24" name="Text 22"/>
          <p:cNvSpPr/>
          <p:nvPr/>
        </p:nvSpPr>
        <p:spPr>
          <a:xfrm>
            <a:off x="1752600" y="9267825"/>
            <a:ext cx="7233895" cy="295275"/>
          </a:xfrm>
          <a:prstGeom prst="rect">
            <a:avLst/>
          </a:prstGeom>
          <a:noFill/>
          <a:ln/>
        </p:spPr>
        <p:txBody>
          <a:bodyPr wrap="square" lIns="25400" tIns="25400" rIns="25400" bIns="25400" rtlCol="0" anchor="t">
            <a:normAutofit/>
          </a:bodyPr>
          <a:lstStyle/>
          <a:p>
            <a:pPr algn="l" indent="0" marL="0">
              <a:buNone/>
            </a:pPr>
            <a:r>
              <a:rPr lang="en-US" sz="1650" dirty="0">
                <a:solidFill>
                  <a:srgbClr val="98A2B8"/>
                </a:solidFill>
                <a:latin typeface="Arial" pitchFamily="34" charset="0"/>
                <a:ea typeface="Arial" pitchFamily="34" charset="-122"/>
                <a:cs typeface="Arial" pitchFamily="34" charset="-120"/>
              </a:rPr>
              <a:t>One click produces a SHA-256 hash-chained Intelligence Package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ARCHITECTURE</a:t>
            </a:r>
            <a:endParaRPr lang="en-US" sz="1650" dirty="0"/>
          </a:p>
        </p:txBody>
      </p:sp>
      <p:sp>
        <p:nvSpPr>
          <p:cNvPr id="3" name="Text 1"/>
          <p:cNvSpPr/>
          <p:nvPr/>
        </p:nvSpPr>
        <p:spPr>
          <a:xfrm>
            <a:off x="1047750" y="1381125"/>
            <a:ext cx="17811750" cy="871538"/>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Detection runs entirely in-process</a:t>
            </a:r>
            <a:endParaRPr lang="en-US" sz="5700" dirty="0"/>
          </a:p>
        </p:txBody>
      </p:sp>
      <p:sp>
        <p:nvSpPr>
          <p:cNvPr id="4" name="Shape 2"/>
          <p:cNvSpPr/>
          <p:nvPr/>
        </p:nvSpPr>
        <p:spPr>
          <a:xfrm>
            <a:off x="1047750" y="3448050"/>
            <a:ext cx="16192500" cy="723900"/>
          </a:xfrm>
          <a:prstGeom prst="rect">
            <a:avLst/>
          </a:prstGeom>
          <a:ln w="9525">
            <a:solidFill>
              <a:srgbClr val="4F7FFF"/>
            </a:solidFill>
            <a:prstDash val="solid"/>
          </a:ln>
        </p:spPr>
      </p:sp>
      <p:sp>
        <p:nvSpPr>
          <p:cNvPr id="5" name="Text 3"/>
          <p:cNvSpPr/>
          <p:nvPr/>
        </p:nvSpPr>
        <p:spPr>
          <a:xfrm>
            <a:off x="1023937" y="3667125"/>
            <a:ext cx="16240125"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4F6FB"/>
                </a:solidFill>
                <a:latin typeface="Arial" pitchFamily="34" charset="0"/>
                <a:ea typeface="Arial" pitchFamily="34" charset="-122"/>
                <a:cs typeface="Arial" pitchFamily="34" charset="-120"/>
              </a:rPr>
              <a:t>Synthetic Dataset — persons, accounts, UPI, devices, IP, transactions</a:t>
            </a:r>
            <a:endParaRPr lang="en-US" sz="1950" dirty="0"/>
          </a:p>
        </p:txBody>
      </p:sp>
      <p:sp>
        <p:nvSpPr>
          <p:cNvPr id="6" name="Text 4"/>
          <p:cNvSpPr/>
          <p:nvPr/>
        </p:nvSpPr>
        <p:spPr>
          <a:xfrm>
            <a:off x="238125" y="4171950"/>
            <a:ext cx="17811750" cy="381000"/>
          </a:xfrm>
          <a:prstGeom prst="rect">
            <a:avLst/>
          </a:prstGeom>
          <a:noFill/>
          <a:ln/>
        </p:spPr>
        <p:txBody>
          <a:bodyPr wrap="square" lIns="25400" tIns="25400" rIns="25400" bIns="25400" rtlCol="0" anchor="t">
            <a:normAutofit/>
          </a:bodyPr>
          <a:lstStyle/>
          <a:p>
            <a:pPr algn="ctr" indent="0" marL="0">
              <a:buNone/>
            </a:pPr>
            <a:r>
              <a:rPr lang="en-US" sz="2250" dirty="0">
                <a:solidFill>
                  <a:srgbClr val="5C6A8C"/>
                </a:solidFill>
                <a:latin typeface="Arial" pitchFamily="34" charset="0"/>
                <a:ea typeface="Arial" pitchFamily="34" charset="-122"/>
                <a:cs typeface="Arial" pitchFamily="34" charset="-120"/>
              </a:rPr>
              <a:t>▼</a:t>
            </a:r>
            <a:endParaRPr lang="en-US" sz="2250" dirty="0"/>
          </a:p>
        </p:txBody>
      </p:sp>
      <p:sp>
        <p:nvSpPr>
          <p:cNvPr id="7" name="Shape 5"/>
          <p:cNvSpPr/>
          <p:nvPr/>
        </p:nvSpPr>
        <p:spPr>
          <a:xfrm>
            <a:off x="1047750" y="4514850"/>
            <a:ext cx="5245075" cy="962025"/>
          </a:xfrm>
          <a:prstGeom prst="rect">
            <a:avLst/>
          </a:prstGeom>
          <a:ln w="9525">
            <a:solidFill>
              <a:srgbClr val="F4F6FB">
                <a:alpha val="12000"/>
              </a:srgbClr>
            </a:solidFill>
            <a:prstDash val="solid"/>
          </a:ln>
        </p:spPr>
      </p:sp>
      <p:sp>
        <p:nvSpPr>
          <p:cNvPr id="8" name="Text 6"/>
          <p:cNvSpPr/>
          <p:nvPr/>
        </p:nvSpPr>
        <p:spPr>
          <a:xfrm>
            <a:off x="1188149" y="4733925"/>
            <a:ext cx="4964277" cy="561975"/>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Entity Resolution &amp; Features</a:t>
            </a:r>
            <a:endParaRPr lang="en-US" sz="1800" dirty="0"/>
          </a:p>
        </p:txBody>
      </p:sp>
      <p:sp>
        <p:nvSpPr>
          <p:cNvPr id="9" name="Shape 7"/>
          <p:cNvSpPr/>
          <p:nvPr/>
        </p:nvSpPr>
        <p:spPr>
          <a:xfrm>
            <a:off x="6521425" y="4514850"/>
            <a:ext cx="5245150" cy="962025"/>
          </a:xfrm>
          <a:prstGeom prst="rect">
            <a:avLst/>
          </a:prstGeom>
          <a:ln w="9525">
            <a:solidFill>
              <a:srgbClr val="F4F6FB">
                <a:alpha val="12000"/>
              </a:srgbClr>
            </a:solidFill>
            <a:prstDash val="solid"/>
          </a:ln>
        </p:spPr>
      </p:sp>
      <p:sp>
        <p:nvSpPr>
          <p:cNvPr id="10" name="Text 8"/>
          <p:cNvSpPr/>
          <p:nvPr/>
        </p:nvSpPr>
        <p:spPr>
          <a:xfrm>
            <a:off x="6661823" y="4733925"/>
            <a:ext cx="4964354" cy="561975"/>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Scoring Engine </a:t>
            </a:r>
            <a:pPr algn="ctr" indent="0" marL="0">
              <a:buNone/>
            </a:pPr>
            <a:r>
              <a:rPr lang="en-US" sz="1500" dirty="0">
                <a:solidFill>
                  <a:srgbClr val="98A2B8"/>
                </a:solidFill>
                <a:latin typeface="Arial" pitchFamily="34" charset="0"/>
                <a:ea typeface="Arial" pitchFamily="34" charset="-122"/>
                <a:cs typeface="Arial" pitchFamily="34" charset="-120"/>
              </a:rPr>
              <a:t>Rule engine + ML fusion</a:t>
            </a:r>
            <a:endParaRPr lang="en-US" sz="1800" dirty="0"/>
          </a:p>
        </p:txBody>
      </p:sp>
      <p:sp>
        <p:nvSpPr>
          <p:cNvPr id="11" name="Shape 9"/>
          <p:cNvSpPr/>
          <p:nvPr/>
        </p:nvSpPr>
        <p:spPr>
          <a:xfrm>
            <a:off x="11995175" y="4514850"/>
            <a:ext cx="5245075" cy="962025"/>
          </a:xfrm>
          <a:prstGeom prst="rect">
            <a:avLst/>
          </a:prstGeom>
          <a:ln w="9525">
            <a:solidFill>
              <a:srgbClr val="F4F6FB">
                <a:alpha val="12000"/>
              </a:srgbClr>
            </a:solidFill>
            <a:prstDash val="solid"/>
          </a:ln>
        </p:spPr>
      </p:sp>
      <p:sp>
        <p:nvSpPr>
          <p:cNvPr id="12" name="Text 10"/>
          <p:cNvSpPr/>
          <p:nvPr/>
        </p:nvSpPr>
        <p:spPr>
          <a:xfrm>
            <a:off x="12135574" y="4733925"/>
            <a:ext cx="4964277" cy="561975"/>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Graph Engine </a:t>
            </a:r>
            <a:pPr algn="ctr" indent="0" marL="0">
              <a:buNone/>
            </a:pPr>
            <a:r>
              <a:rPr lang="en-US" sz="1500" dirty="0">
                <a:solidFill>
                  <a:srgbClr val="98A2B8"/>
                </a:solidFill>
                <a:latin typeface="Arial" pitchFamily="34" charset="0"/>
                <a:ea typeface="Arial" pitchFamily="34" charset="-122"/>
                <a:cs typeface="Arial" pitchFamily="34" charset="-120"/>
              </a:rPr>
              <a:t>NetworkX</a:t>
            </a:r>
            <a:endParaRPr lang="en-US" sz="1800" dirty="0"/>
          </a:p>
        </p:txBody>
      </p:sp>
      <p:sp>
        <p:nvSpPr>
          <p:cNvPr id="13" name="Text 11"/>
          <p:cNvSpPr/>
          <p:nvPr/>
        </p:nvSpPr>
        <p:spPr>
          <a:xfrm>
            <a:off x="238125" y="5476875"/>
            <a:ext cx="17811750" cy="381000"/>
          </a:xfrm>
          <a:prstGeom prst="rect">
            <a:avLst/>
          </a:prstGeom>
          <a:noFill/>
          <a:ln/>
        </p:spPr>
        <p:txBody>
          <a:bodyPr wrap="square" lIns="25400" tIns="25400" rIns="25400" bIns="25400" rtlCol="0" anchor="t">
            <a:normAutofit/>
          </a:bodyPr>
          <a:lstStyle/>
          <a:p>
            <a:pPr algn="ctr" indent="0" marL="0">
              <a:buNone/>
            </a:pPr>
            <a:r>
              <a:rPr lang="en-US" sz="2250" dirty="0">
                <a:solidFill>
                  <a:srgbClr val="5C6A8C"/>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1047750" y="5819775"/>
            <a:ext cx="10496550" cy="723900"/>
          </a:xfrm>
          <a:prstGeom prst="rect">
            <a:avLst/>
          </a:prstGeom>
          <a:ln w="9525">
            <a:solidFill>
              <a:srgbClr val="4F7FFF"/>
            </a:solidFill>
            <a:prstDash val="solid"/>
          </a:ln>
        </p:spPr>
      </p:sp>
      <p:sp>
        <p:nvSpPr>
          <p:cNvPr id="15" name="Text 13"/>
          <p:cNvSpPr/>
          <p:nvPr/>
        </p:nvSpPr>
        <p:spPr>
          <a:xfrm>
            <a:off x="1109377" y="6038850"/>
            <a:ext cx="10373297"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4F6FB"/>
                </a:solidFill>
                <a:latin typeface="Arial" pitchFamily="34" charset="0"/>
                <a:ea typeface="Arial" pitchFamily="34" charset="-122"/>
                <a:cs typeface="Arial" pitchFamily="34" charset="-120"/>
              </a:rPr>
              <a:t>FastAPI + Hash-Chained Ledger</a:t>
            </a:r>
            <a:endParaRPr lang="en-US" sz="1950" dirty="0"/>
          </a:p>
        </p:txBody>
      </p:sp>
      <p:sp>
        <p:nvSpPr>
          <p:cNvPr id="16" name="Shape 14"/>
          <p:cNvSpPr/>
          <p:nvPr/>
        </p:nvSpPr>
        <p:spPr>
          <a:xfrm>
            <a:off x="11772900" y="5819775"/>
            <a:ext cx="5467350" cy="723900"/>
          </a:xfrm>
          <a:prstGeom prst="rect">
            <a:avLst/>
          </a:prstGeom>
          <a:ln w="9525">
            <a:solidFill>
              <a:srgbClr val="3A4260"/>
            </a:solidFill>
            <a:prstDash val="dash"/>
          </a:ln>
        </p:spPr>
      </p:sp>
      <p:sp>
        <p:nvSpPr>
          <p:cNvPr id="17" name="Text 15"/>
          <p:cNvSpPr/>
          <p:nvPr/>
        </p:nvSpPr>
        <p:spPr>
          <a:xfrm>
            <a:off x="13487846" y="6062663"/>
            <a:ext cx="1113011" cy="271463"/>
          </a:xfrm>
          <a:prstGeom prst="rect">
            <a:avLst/>
          </a:prstGeom>
          <a:noFill/>
          <a:ln/>
        </p:spPr>
        <p:txBody>
          <a:bodyPr wrap="square" lIns="0" tIns="0" rIns="0" bIns="0" rtlCol="0" anchor="t">
            <a:normAutofit/>
          </a:bodyPr>
          <a:lstStyle/>
          <a:p>
            <a:pPr algn="ctr" indent="0" marL="0">
              <a:buNone/>
            </a:pPr>
            <a:r>
              <a:rPr lang="en-US" sz="1650" b="1" dirty="0">
                <a:solidFill>
                  <a:srgbClr val="98A2B8"/>
                </a:solidFill>
                <a:latin typeface="Arial" pitchFamily="34" charset="0"/>
                <a:ea typeface="Arial" pitchFamily="34" charset="-122"/>
                <a:cs typeface="Arial" pitchFamily="34" charset="-120"/>
              </a:rPr>
              <a:t>Neo4j Aura</a:t>
            </a:r>
            <a:endParaRPr lang="en-US" sz="1650" dirty="0"/>
          </a:p>
        </p:txBody>
      </p:sp>
      <p:sp>
        <p:nvSpPr>
          <p:cNvPr id="18" name="Text 16"/>
          <p:cNvSpPr/>
          <p:nvPr/>
        </p:nvSpPr>
        <p:spPr>
          <a:xfrm>
            <a:off x="14486558" y="6053138"/>
            <a:ext cx="1076846" cy="295275"/>
          </a:xfrm>
          <a:prstGeom prst="rect">
            <a:avLst/>
          </a:prstGeom>
          <a:noFill/>
          <a:ln/>
        </p:spPr>
        <p:txBody>
          <a:bodyPr wrap="square" lIns="25400" tIns="25400" rIns="25400" bIns="25400" rtlCol="0" anchor="t">
            <a:normAutofit/>
          </a:bodyPr>
          <a:lstStyle/>
          <a:p>
            <a:pPr algn="ctr" indent="0" marL="0">
              <a:buNone/>
            </a:pPr>
            <a:r>
              <a:rPr lang="en-US" sz="1650" dirty="0">
                <a:solidFill>
                  <a:srgbClr val="5C6A8C"/>
                </a:solidFill>
                <a:latin typeface="Arial" pitchFamily="34" charset="0"/>
                <a:ea typeface="Arial" pitchFamily="34" charset="-122"/>
                <a:cs typeface="Arial" pitchFamily="34" charset="-120"/>
              </a:rPr>
              <a:t>(optional)</a:t>
            </a:r>
            <a:endParaRPr lang="en-US" sz="1650" dirty="0"/>
          </a:p>
        </p:txBody>
      </p:sp>
      <p:sp>
        <p:nvSpPr>
          <p:cNvPr id="19" name="Text 17"/>
          <p:cNvSpPr/>
          <p:nvPr/>
        </p:nvSpPr>
        <p:spPr>
          <a:xfrm>
            <a:off x="238125" y="6543675"/>
            <a:ext cx="17811750" cy="381000"/>
          </a:xfrm>
          <a:prstGeom prst="rect">
            <a:avLst/>
          </a:prstGeom>
          <a:noFill/>
          <a:ln/>
        </p:spPr>
        <p:txBody>
          <a:bodyPr wrap="square" lIns="25400" tIns="25400" rIns="25400" bIns="25400" rtlCol="0" anchor="t">
            <a:normAutofit/>
          </a:bodyPr>
          <a:lstStyle/>
          <a:p>
            <a:pPr algn="ctr" indent="0" marL="0">
              <a:buNone/>
            </a:pPr>
            <a:r>
              <a:rPr lang="en-US" sz="2250" dirty="0">
                <a:solidFill>
                  <a:srgbClr val="5C6A8C"/>
                </a:solidFill>
                <a:latin typeface="Arial" pitchFamily="34" charset="0"/>
                <a:ea typeface="Arial" pitchFamily="34" charset="-122"/>
                <a:cs typeface="Arial" pitchFamily="34" charset="-120"/>
              </a:rPr>
              <a:t>▼</a:t>
            </a:r>
            <a:endParaRPr lang="en-US" sz="2250" dirty="0"/>
          </a:p>
        </p:txBody>
      </p:sp>
      <p:sp>
        <p:nvSpPr>
          <p:cNvPr id="20" name="Shape 18"/>
          <p:cNvSpPr/>
          <p:nvPr/>
        </p:nvSpPr>
        <p:spPr>
          <a:xfrm>
            <a:off x="1047750" y="6886575"/>
            <a:ext cx="7981950" cy="962025"/>
          </a:xfrm>
          <a:prstGeom prst="rect">
            <a:avLst/>
          </a:prstGeom>
          <a:ln w="9525">
            <a:solidFill>
              <a:srgbClr val="4F7FFF"/>
            </a:solidFill>
            <a:prstDash val="solid"/>
          </a:ln>
        </p:spPr>
      </p:sp>
      <p:sp>
        <p:nvSpPr>
          <p:cNvPr id="21" name="Text 19"/>
          <p:cNvSpPr/>
          <p:nvPr/>
        </p:nvSpPr>
        <p:spPr>
          <a:xfrm>
            <a:off x="1147096" y="7105650"/>
            <a:ext cx="7783259" cy="561975"/>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React Command Centre </a:t>
            </a:r>
            <a:pPr algn="ctr" indent="0" marL="0">
              <a:buNone/>
            </a:pPr>
            <a:r>
              <a:rPr lang="en-US" sz="1500" dirty="0">
                <a:solidFill>
                  <a:srgbClr val="98A2B8"/>
                </a:solidFill>
                <a:latin typeface="Arial" pitchFamily="34" charset="0"/>
                <a:ea typeface="Arial" pitchFamily="34" charset="-122"/>
                <a:cs typeface="Arial" pitchFamily="34" charset="-120"/>
              </a:rPr>
              <a:t>graph / map / globe / evidence</a:t>
            </a:r>
            <a:endParaRPr lang="en-US" sz="1800" dirty="0"/>
          </a:p>
        </p:txBody>
      </p:sp>
      <p:sp>
        <p:nvSpPr>
          <p:cNvPr id="22" name="Shape 20"/>
          <p:cNvSpPr/>
          <p:nvPr/>
        </p:nvSpPr>
        <p:spPr>
          <a:xfrm>
            <a:off x="9258300" y="6886575"/>
            <a:ext cx="7981950" cy="962025"/>
          </a:xfrm>
          <a:prstGeom prst="rect">
            <a:avLst/>
          </a:prstGeom>
          <a:ln w="9525">
            <a:solidFill>
              <a:srgbClr val="3A4260"/>
            </a:solidFill>
            <a:prstDash val="dash"/>
          </a:ln>
        </p:spPr>
      </p:sp>
      <p:sp>
        <p:nvSpPr>
          <p:cNvPr id="23" name="Text 21"/>
          <p:cNvSpPr/>
          <p:nvPr/>
        </p:nvSpPr>
        <p:spPr>
          <a:xfrm>
            <a:off x="11253043" y="7248525"/>
            <a:ext cx="1765325" cy="271463"/>
          </a:xfrm>
          <a:prstGeom prst="rect">
            <a:avLst/>
          </a:prstGeom>
          <a:noFill/>
          <a:ln/>
        </p:spPr>
        <p:txBody>
          <a:bodyPr wrap="square" lIns="0" tIns="0" rIns="0" bIns="0" rtlCol="0" anchor="t">
            <a:normAutofit/>
          </a:bodyPr>
          <a:lstStyle/>
          <a:p>
            <a:pPr algn="ctr" indent="0" marL="0">
              <a:buNone/>
            </a:pPr>
            <a:r>
              <a:rPr lang="en-US" sz="1650" b="1" dirty="0">
                <a:solidFill>
                  <a:srgbClr val="98A2B8"/>
                </a:solidFill>
                <a:latin typeface="Arial" pitchFamily="34" charset="0"/>
                <a:ea typeface="Arial" pitchFamily="34" charset="-122"/>
                <a:cs typeface="Arial" pitchFamily="34" charset="-120"/>
              </a:rPr>
              <a:t>Tool-Calling Agent</a:t>
            </a:r>
            <a:endParaRPr lang="en-US" sz="1650" dirty="0"/>
          </a:p>
        </p:txBody>
      </p:sp>
      <p:sp>
        <p:nvSpPr>
          <p:cNvPr id="24" name="Text 22"/>
          <p:cNvSpPr/>
          <p:nvPr/>
        </p:nvSpPr>
        <p:spPr>
          <a:xfrm>
            <a:off x="12827001" y="7239000"/>
            <a:ext cx="2533672" cy="295275"/>
          </a:xfrm>
          <a:prstGeom prst="rect">
            <a:avLst/>
          </a:prstGeom>
          <a:noFill/>
          <a:ln/>
        </p:spPr>
        <p:txBody>
          <a:bodyPr wrap="square" lIns="25400" tIns="25400" rIns="25400" bIns="25400" rtlCol="0" anchor="t">
            <a:normAutofit/>
          </a:bodyPr>
          <a:lstStyle/>
          <a:p>
            <a:pPr algn="ctr" indent="0" marL="0">
              <a:buNone/>
            </a:pPr>
            <a:r>
              <a:rPr lang="en-US" sz="1650" dirty="0">
                <a:solidFill>
                  <a:srgbClr val="5C6A8C"/>
                </a:solidFill>
                <a:latin typeface="Arial" pitchFamily="34" charset="0"/>
                <a:ea typeface="Arial" pitchFamily="34" charset="-122"/>
                <a:cs typeface="Arial" pitchFamily="34" charset="-120"/>
              </a:rPr>
              <a:t>(optional, OpenRouter)</a:t>
            </a:r>
            <a:endParaRPr lang="en-US" sz="1650" dirty="0"/>
          </a:p>
        </p:txBody>
      </p:sp>
      <p:sp>
        <p:nvSpPr>
          <p:cNvPr id="25" name="Shape 23"/>
          <p:cNvSpPr/>
          <p:nvPr/>
        </p:nvSpPr>
        <p:spPr>
          <a:xfrm>
            <a:off x="1047750" y="9005888"/>
            <a:ext cx="16192500" cy="9525"/>
          </a:xfrm>
          <a:prstGeom prst="rect">
            <a:avLst/>
          </a:prstGeom>
          <a:solidFill>
            <a:srgbClr val="F4F6FB">
              <a:alpha val="12000"/>
            </a:srgbClr>
          </a:solidFill>
          <a:ln/>
        </p:spPr>
      </p:sp>
      <p:sp>
        <p:nvSpPr>
          <p:cNvPr id="26" name="Text 24"/>
          <p:cNvSpPr/>
          <p:nvPr/>
        </p:nvSpPr>
        <p:spPr>
          <a:xfrm>
            <a:off x="1047750" y="9244013"/>
            <a:ext cx="1667827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No hard dependency on Neo4j or the LLM agent — remove either one and the platform still detects rings.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C257">
                  <a:alpha val="10000"/>
                </a:srgbClr>
              </a:gs>
              <a:gs pos="65000">
                <a:srgbClr val="FFC257">
                  <a:alpha val="0"/>
                </a:srgbClr>
              </a:gs>
            </a:gsLst>
            <a:path path="circle">
              <a:fillToRect l="50000" t="0" r="50000" b="100000"/>
            </a:path>
          </a:gradFill>
          <a:ln/>
        </p:spPr>
      </p:sp>
      <p:sp>
        <p:nvSpPr>
          <p:cNvPr id="3" name="Text 1"/>
          <p:cNvSpPr/>
          <p:nvPr/>
        </p:nvSpPr>
        <p:spPr>
          <a:xfrm>
            <a:off x="7420864" y="3114675"/>
            <a:ext cx="3446197" cy="276225"/>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C257"/>
                </a:solidFill>
                <a:latin typeface="Arial" pitchFamily="34" charset="0"/>
                <a:ea typeface="Arial" pitchFamily="34" charset="-122"/>
                <a:cs typeface="Arial" pitchFamily="34" charset="-120"/>
              </a:rPr>
              <a:t>THE LEAD-TIME NUMBER</a:t>
            </a:r>
            <a:endParaRPr lang="en-US" sz="1650" dirty="0"/>
          </a:p>
        </p:txBody>
      </p:sp>
      <p:sp>
        <p:nvSpPr>
          <p:cNvPr id="4" name="Text 2"/>
          <p:cNvSpPr/>
          <p:nvPr/>
        </p:nvSpPr>
        <p:spPr>
          <a:xfrm>
            <a:off x="4075387" y="3695700"/>
            <a:ext cx="5527945" cy="2133600"/>
          </a:xfrm>
          <a:prstGeom prst="rect">
            <a:avLst/>
          </a:prstGeom>
          <a:noFill/>
          <a:ln/>
        </p:spPr>
        <p:txBody>
          <a:bodyPr wrap="square" lIns="25400" tIns="25400" rIns="25400" bIns="25400" rtlCol="0" anchor="t">
            <a:normAutofit/>
          </a:bodyPr>
          <a:lstStyle/>
          <a:p>
            <a:pPr algn="ctr" indent="0" marL="0">
              <a:lnSpc>
                <a:spcPct val="87129"/>
              </a:lnSpc>
              <a:buNone/>
            </a:pPr>
            <a:r>
              <a:rPr lang="en-US" sz="16500" b="1" spc="-450" kern="0" dirty="0">
                <a:solidFill>
                  <a:srgbClr val="FFC257"/>
                </a:solidFill>
                <a:latin typeface="Arial" pitchFamily="34" charset="0"/>
                <a:ea typeface="Arial" pitchFamily="34" charset="-122"/>
                <a:cs typeface="Arial" pitchFamily="34" charset="-120"/>
              </a:rPr>
              <a:t>#3</a:t>
            </a:r>
            <a:endParaRPr lang="en-US" sz="16500" dirty="0"/>
          </a:p>
        </p:txBody>
      </p:sp>
      <p:sp>
        <p:nvSpPr>
          <p:cNvPr id="5" name="Text 3"/>
          <p:cNvSpPr/>
          <p:nvPr/>
        </p:nvSpPr>
        <p:spPr>
          <a:xfrm>
            <a:off x="4075387" y="5905500"/>
            <a:ext cx="5527945"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4F6FB"/>
                </a:solidFill>
                <a:latin typeface="Arial" pitchFamily="34" charset="0"/>
                <a:ea typeface="Arial" pitchFamily="34" charset="-122"/>
                <a:cs typeface="Arial" pitchFamily="34" charset="-120"/>
              </a:rPr>
              <a:t>victim at which the ring became detectable</a:t>
            </a:r>
            <a:endParaRPr lang="en-US" sz="2100" dirty="0"/>
          </a:p>
        </p:txBody>
      </p:sp>
      <p:sp>
        <p:nvSpPr>
          <p:cNvPr id="6" name="Text 4"/>
          <p:cNvSpPr/>
          <p:nvPr/>
        </p:nvSpPr>
        <p:spPr>
          <a:xfrm>
            <a:off x="9847362" y="4767263"/>
            <a:ext cx="521196" cy="914400"/>
          </a:xfrm>
          <a:prstGeom prst="rect">
            <a:avLst/>
          </a:prstGeom>
          <a:noFill/>
          <a:ln/>
        </p:spPr>
        <p:txBody>
          <a:bodyPr wrap="square" lIns="25400" tIns="25400" rIns="25400" bIns="25400" rtlCol="0" anchor="t">
            <a:normAutofit/>
          </a:bodyPr>
          <a:lstStyle/>
          <a:p>
            <a:pPr algn="ctr" indent="0" marL="0">
              <a:buNone/>
            </a:pPr>
            <a:r>
              <a:rPr lang="en-US" sz="6000" dirty="0">
                <a:solidFill>
                  <a:srgbClr val="3A4260"/>
                </a:solidFill>
                <a:latin typeface="Arial" pitchFamily="34" charset="0"/>
                <a:ea typeface="Arial" pitchFamily="34" charset="-122"/>
                <a:cs typeface="Arial" pitchFamily="34" charset="-120"/>
              </a:rPr>
              <a:t>+</a:t>
            </a:r>
            <a:endParaRPr lang="en-US" sz="6000" dirty="0"/>
          </a:p>
        </p:txBody>
      </p:sp>
      <p:sp>
        <p:nvSpPr>
          <p:cNvPr id="7" name="Text 5"/>
          <p:cNvSpPr/>
          <p:nvPr/>
        </p:nvSpPr>
        <p:spPr>
          <a:xfrm>
            <a:off x="10708987" y="3695700"/>
            <a:ext cx="3407152" cy="2133600"/>
          </a:xfrm>
          <a:prstGeom prst="rect">
            <a:avLst/>
          </a:prstGeom>
          <a:noFill/>
          <a:ln/>
        </p:spPr>
        <p:txBody>
          <a:bodyPr wrap="square" lIns="25400" tIns="25400" rIns="25400" bIns="25400" rtlCol="0" anchor="t">
            <a:normAutofit/>
          </a:bodyPr>
          <a:lstStyle/>
          <a:p>
            <a:pPr algn="ctr" indent="0" marL="0">
              <a:lnSpc>
                <a:spcPct val="87129"/>
              </a:lnSpc>
              <a:buNone/>
            </a:pPr>
            <a:r>
              <a:rPr lang="en-US" sz="16500" b="1" spc="-450" kern="0" dirty="0">
                <a:solidFill>
                  <a:srgbClr val="F4F6FB"/>
                </a:solidFill>
                <a:latin typeface="Arial" pitchFamily="34" charset="0"/>
                <a:ea typeface="Arial" pitchFamily="34" charset="-122"/>
                <a:cs typeface="Arial" pitchFamily="34" charset="-120"/>
              </a:rPr>
              <a:t>62</a:t>
            </a:r>
            <a:endParaRPr lang="en-US" sz="16500" dirty="0"/>
          </a:p>
        </p:txBody>
      </p:sp>
      <p:sp>
        <p:nvSpPr>
          <p:cNvPr id="8" name="Text 6"/>
          <p:cNvSpPr/>
          <p:nvPr/>
        </p:nvSpPr>
        <p:spPr>
          <a:xfrm>
            <a:off x="10708987" y="5905500"/>
            <a:ext cx="3407152"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4F6FB"/>
                </a:solidFill>
                <a:latin typeface="Arial" pitchFamily="34" charset="0"/>
                <a:ea typeface="Arial" pitchFamily="34" charset="-122"/>
                <a:cs typeface="Arial" pitchFamily="34" charset="-120"/>
              </a:rPr>
              <a:t>more victims fell afterward</a:t>
            </a:r>
            <a:endParaRPr lang="en-US" sz="2100" dirty="0"/>
          </a:p>
        </p:txBody>
      </p:sp>
      <p:sp>
        <p:nvSpPr>
          <p:cNvPr id="9" name="Text 7"/>
          <p:cNvSpPr/>
          <p:nvPr/>
        </p:nvSpPr>
        <p:spPr>
          <a:xfrm>
            <a:off x="3849261" y="6900863"/>
            <a:ext cx="10589478" cy="500063"/>
          </a:xfrm>
          <a:prstGeom prst="rect">
            <a:avLst/>
          </a:prstGeom>
          <a:noFill/>
          <a:ln/>
        </p:spPr>
        <p:txBody>
          <a:bodyPr wrap="square" lIns="25400" tIns="25400" rIns="25400" bIns="25400" rtlCol="0" anchor="t">
            <a:normAutofit/>
          </a:bodyPr>
          <a:lstStyle/>
          <a:p>
            <a:pPr algn="ctr" indent="0" marL="0">
              <a:buNone/>
            </a:pPr>
            <a:r>
              <a:rPr lang="en-US" sz="3000" dirty="0">
                <a:solidFill>
                  <a:srgbClr val="98A2B8"/>
                </a:solidFill>
                <a:latin typeface="Arial" pitchFamily="34" charset="0"/>
                <a:ea typeface="Arial" pitchFamily="34" charset="-122"/>
                <a:cs typeface="Arial" pitchFamily="34" charset="-120"/>
              </a:rPr>
              <a:t>Earlier action stops fraud. It doesn't just document it.</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EXPLAINABLE AI, PROVEN NOT CLAIMED</a:t>
            </a:r>
            <a:endParaRPr lang="en-US" sz="1650" dirty="0"/>
          </a:p>
        </p:txBody>
      </p:sp>
      <p:sp>
        <p:nvSpPr>
          <p:cNvPr id="3" name="Text 1"/>
          <p:cNvSpPr/>
          <p:nvPr/>
        </p:nvSpPr>
        <p:spPr>
          <a:xfrm>
            <a:off x="1047750" y="1381125"/>
            <a:ext cx="16764000" cy="695325"/>
          </a:xfrm>
          <a:prstGeom prst="rect">
            <a:avLst/>
          </a:prstGeom>
          <a:noFill/>
          <a:ln/>
        </p:spPr>
        <p:txBody>
          <a:bodyPr wrap="square" lIns="25400" tIns="25400" rIns="25400" bIns="25400" rtlCol="0" anchor="t">
            <a:normAutofit/>
          </a:bodyPr>
          <a:lstStyle/>
          <a:p>
            <a:pPr algn="l" indent="0" marL="0">
              <a:buNone/>
            </a:pPr>
            <a:r>
              <a:rPr lang="en-US" sz="4500" b="1" spc="-75" kern="0" dirty="0">
                <a:solidFill>
                  <a:srgbClr val="F4F6FB"/>
                </a:solidFill>
                <a:latin typeface="Arial" pitchFamily="34" charset="0"/>
                <a:ea typeface="Arial" pitchFamily="34" charset="-122"/>
                <a:cs typeface="Arial" pitchFamily="34" charset="-120"/>
              </a:rPr>
              <a:t>A realistic score, not an inflated one</a:t>
            </a:r>
            <a:endParaRPr lang="en-US" sz="4500" dirty="0"/>
          </a:p>
        </p:txBody>
      </p:sp>
      <p:sp>
        <p:nvSpPr>
          <p:cNvPr id="4" name="Text 2"/>
          <p:cNvSpPr/>
          <p:nvPr/>
        </p:nvSpPr>
        <p:spPr>
          <a:xfrm>
            <a:off x="888523" y="4933950"/>
            <a:ext cx="3503005" cy="1752600"/>
          </a:xfrm>
          <a:prstGeom prst="rect">
            <a:avLst/>
          </a:prstGeom>
          <a:noFill/>
          <a:ln/>
        </p:spPr>
        <p:txBody>
          <a:bodyPr wrap="square" lIns="25400" tIns="25400" rIns="25400" bIns="25400" rtlCol="0" anchor="t">
            <a:normAutofit/>
          </a:bodyPr>
          <a:lstStyle/>
          <a:p>
            <a:pPr algn="ctr" indent="0" marL="0">
              <a:lnSpc>
                <a:spcPct val="86957"/>
              </a:lnSpc>
              <a:buNone/>
            </a:pPr>
            <a:r>
              <a:rPr lang="en-US" sz="13500" b="1" spc="-300" kern="0" dirty="0">
                <a:solidFill>
                  <a:srgbClr val="4F7FFF"/>
                </a:solidFill>
                <a:latin typeface="Arial" pitchFamily="34" charset="0"/>
                <a:ea typeface="Arial" pitchFamily="34" charset="-122"/>
                <a:cs typeface="Arial" pitchFamily="34" charset="-120"/>
              </a:rPr>
              <a:t>0.77</a:t>
            </a:r>
            <a:endParaRPr lang="en-US" sz="13500" dirty="0"/>
          </a:p>
        </p:txBody>
      </p:sp>
      <p:sp>
        <p:nvSpPr>
          <p:cNvPr id="5" name="Text 3"/>
          <p:cNvSpPr/>
          <p:nvPr/>
        </p:nvSpPr>
        <p:spPr>
          <a:xfrm>
            <a:off x="888523" y="6800850"/>
            <a:ext cx="3503005"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4F6FB"/>
                </a:solidFill>
                <a:latin typeface="Arial" pitchFamily="34" charset="0"/>
                <a:ea typeface="Arial" pitchFamily="34" charset="-122"/>
                <a:cs typeface="Arial" pitchFamily="34" charset="-120"/>
              </a:rPr>
              <a:t>PR-AUC, supervised model</a:t>
            </a:r>
            <a:endParaRPr lang="en-US" sz="1950" dirty="0"/>
          </a:p>
        </p:txBody>
      </p:sp>
      <p:sp>
        <p:nvSpPr>
          <p:cNvPr id="6" name="Shape 4"/>
          <p:cNvSpPr/>
          <p:nvPr/>
        </p:nvSpPr>
        <p:spPr>
          <a:xfrm>
            <a:off x="4765700" y="4586288"/>
            <a:ext cx="9525" cy="2847975"/>
          </a:xfrm>
          <a:prstGeom prst="rect">
            <a:avLst/>
          </a:prstGeom>
          <a:solidFill>
            <a:srgbClr val="F4F6FB">
              <a:alpha val="12000"/>
            </a:srgbClr>
          </a:solidFill>
          <a:ln/>
        </p:spPr>
      </p:sp>
      <p:sp>
        <p:nvSpPr>
          <p:cNvPr id="7" name="Text 5"/>
          <p:cNvSpPr/>
          <p:nvPr/>
        </p:nvSpPr>
        <p:spPr>
          <a:xfrm>
            <a:off x="5308625" y="4586288"/>
            <a:ext cx="1312478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Three signals fused into one score:</a:t>
            </a:r>
            <a:endParaRPr lang="en-US" sz="2100" dirty="0"/>
          </a:p>
        </p:txBody>
      </p:sp>
      <p:sp>
        <p:nvSpPr>
          <p:cNvPr id="8" name="Text 6"/>
          <p:cNvSpPr/>
          <p:nvPr/>
        </p:nvSpPr>
        <p:spPr>
          <a:xfrm>
            <a:off x="5308625" y="5143500"/>
            <a:ext cx="13124788"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Rule engine (transparent, additive) · IsolationForest (anomaly) · RandomForest (supervised)</a:t>
            </a:r>
            <a:endParaRPr lang="en-US" sz="1800" dirty="0"/>
          </a:p>
        </p:txBody>
      </p:sp>
      <p:sp>
        <p:nvSpPr>
          <p:cNvPr id="9" name="Text 7"/>
          <p:cNvSpPr/>
          <p:nvPr/>
        </p:nvSpPr>
        <p:spPr>
          <a:xfrm>
            <a:off x="5308625" y="5786438"/>
            <a:ext cx="1312478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Caught a shortcut, and removed it:</a:t>
            </a:r>
            <a:endParaRPr lang="en-US" sz="2100" dirty="0"/>
          </a:p>
        </p:txBody>
      </p:sp>
      <p:sp>
        <p:nvSpPr>
          <p:cNvPr id="10" name="Text 8"/>
          <p:cNvSpPr/>
          <p:nvPr/>
        </p:nvSpPr>
        <p:spPr>
          <a:xfrm>
            <a:off x="5308625" y="6343650"/>
            <a:ext cx="12289574" cy="600075"/>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Account age alone gave the model an unfair boost — identified as a data leak during testing, and removed before this score was reported.</a:t>
            </a:r>
            <a:endParaRPr lang="en-US" sz="1800" dirty="0"/>
          </a:p>
        </p:txBody>
      </p:sp>
      <p:sp>
        <p:nvSpPr>
          <p:cNvPr id="11" name="Text 9"/>
          <p:cNvSpPr/>
          <p:nvPr/>
        </p:nvSpPr>
        <p:spPr>
          <a:xfrm>
            <a:off x="5308625" y="7153275"/>
            <a:ext cx="13124788"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Every flag ships a human-readable reason, e.g. </a:t>
            </a:r>
            <a:pPr algn="l" indent="0" marL="0">
              <a:buNone/>
            </a:pPr>
            <a:r>
              <a:rPr lang="en-US" sz="1800" dirty="0">
                <a:solidFill>
                  <a:srgbClr val="F4F6FB"/>
                </a:solidFill>
                <a:latin typeface="Arial" pitchFamily="34" charset="0"/>
                <a:ea typeface="Arial" pitchFamily="34" charset="-122"/>
                <a:cs typeface="Arial" pitchFamily="34" charset="-120"/>
              </a:rPr>
              <a:t>“Shares a device with 9 other accounts.”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35D499"/>
                </a:solidFill>
                <a:latin typeface="Arial" pitchFamily="34" charset="0"/>
                <a:ea typeface="Arial" pitchFamily="34" charset="-122"/>
                <a:cs typeface="Arial" pitchFamily="34" charset="-120"/>
              </a:rPr>
              <a:t>COURT-ADMISSIBLE EVIDENCE</a:t>
            </a:r>
            <a:endParaRPr lang="en-US" sz="1650" dirty="0"/>
          </a:p>
        </p:txBody>
      </p:sp>
      <p:sp>
        <p:nvSpPr>
          <p:cNvPr id="3" name="Text 1"/>
          <p:cNvSpPr/>
          <p:nvPr/>
        </p:nvSpPr>
        <p:spPr>
          <a:xfrm>
            <a:off x="1047750" y="1381125"/>
            <a:ext cx="16764000" cy="871538"/>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Tamper with one record, break the whole chain</a:t>
            </a:r>
            <a:endParaRPr lang="en-US" sz="5700" dirty="0"/>
          </a:p>
        </p:txBody>
      </p:sp>
      <p:sp>
        <p:nvSpPr>
          <p:cNvPr id="4" name="Shape 2"/>
          <p:cNvSpPr/>
          <p:nvPr/>
        </p:nvSpPr>
        <p:spPr>
          <a:xfrm>
            <a:off x="3409950" y="4869656"/>
            <a:ext cx="3238500" cy="1195388"/>
          </a:xfrm>
          <a:prstGeom prst="rect">
            <a:avLst/>
          </a:prstGeom>
          <a:ln w="9525">
            <a:solidFill>
              <a:srgbClr val="35D499"/>
            </a:solidFill>
            <a:prstDash val="solid"/>
          </a:ln>
        </p:spPr>
      </p:sp>
      <p:sp>
        <p:nvSpPr>
          <p:cNvPr id="5" name="Text 3"/>
          <p:cNvSpPr/>
          <p:nvPr/>
        </p:nvSpPr>
        <p:spPr>
          <a:xfrm>
            <a:off x="3635692" y="5183981"/>
            <a:ext cx="278701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Package #1</a:t>
            </a:r>
            <a:endParaRPr lang="en-US" sz="1800" dirty="0"/>
          </a:p>
        </p:txBody>
      </p:sp>
      <p:sp>
        <p:nvSpPr>
          <p:cNvPr id="6" name="Text 4"/>
          <p:cNvSpPr/>
          <p:nvPr/>
        </p:nvSpPr>
        <p:spPr>
          <a:xfrm>
            <a:off x="3635692" y="5541169"/>
            <a:ext cx="2787015" cy="247650"/>
          </a:xfrm>
          <a:prstGeom prst="rect">
            <a:avLst/>
          </a:prstGeom>
          <a:noFill/>
          <a:ln/>
        </p:spPr>
        <p:txBody>
          <a:bodyPr wrap="square" lIns="25400" tIns="25400" rIns="25400" bIns="25400" rtlCol="0" anchor="t">
            <a:normAutofit/>
          </a:bodyPr>
          <a:lstStyle/>
          <a:p>
            <a:pPr algn="ctr" indent="0" marL="0">
              <a:buNone/>
            </a:pPr>
            <a:r>
              <a:rPr lang="en-US" sz="1425" dirty="0">
                <a:solidFill>
                  <a:srgbClr val="98A2B8"/>
                </a:solidFill>
                <a:latin typeface="Courier New" pitchFamily="34" charset="0"/>
                <a:ea typeface="Courier New" pitchFamily="34" charset="-122"/>
                <a:cs typeface="Courier New" pitchFamily="34" charset="-120"/>
              </a:rPr>
              <a:t>SHA-256: 9f2a...</a:t>
            </a:r>
            <a:endParaRPr lang="en-US" sz="1425" dirty="0"/>
          </a:p>
        </p:txBody>
      </p:sp>
      <p:sp>
        <p:nvSpPr>
          <p:cNvPr id="7" name="Text 5"/>
          <p:cNvSpPr/>
          <p:nvPr/>
        </p:nvSpPr>
        <p:spPr>
          <a:xfrm>
            <a:off x="6877050" y="5214938"/>
            <a:ext cx="506730" cy="542925"/>
          </a:xfrm>
          <a:prstGeom prst="rect">
            <a:avLst/>
          </a:prstGeom>
          <a:noFill/>
          <a:ln/>
        </p:spPr>
        <p:txBody>
          <a:bodyPr wrap="square" lIns="25400" tIns="25400" rIns="25400" bIns="25400" rtlCol="0" anchor="t">
            <a:normAutofit/>
          </a:bodyPr>
          <a:lstStyle/>
          <a:p>
            <a:pPr algn="l" indent="0" marL="0">
              <a:buNone/>
            </a:pPr>
            <a:r>
              <a:rPr lang="en-US" sz="3300" dirty="0">
                <a:solidFill>
                  <a:srgbClr val="35D499"/>
                </a:solidFill>
                <a:latin typeface="Arial" pitchFamily="34" charset="0"/>
                <a:ea typeface="Arial" pitchFamily="34" charset="-122"/>
                <a:cs typeface="Arial" pitchFamily="34" charset="-120"/>
              </a:rPr>
              <a:t>→</a:t>
            </a:r>
            <a:endParaRPr lang="en-US" sz="3300" dirty="0"/>
          </a:p>
        </p:txBody>
      </p:sp>
      <p:sp>
        <p:nvSpPr>
          <p:cNvPr id="8" name="Shape 6"/>
          <p:cNvSpPr/>
          <p:nvPr/>
        </p:nvSpPr>
        <p:spPr>
          <a:xfrm>
            <a:off x="7524750" y="4869656"/>
            <a:ext cx="3238500" cy="1195388"/>
          </a:xfrm>
          <a:prstGeom prst="rect">
            <a:avLst/>
          </a:prstGeom>
          <a:ln w="9525">
            <a:solidFill>
              <a:srgbClr val="35D499"/>
            </a:solidFill>
            <a:prstDash val="solid"/>
          </a:ln>
        </p:spPr>
      </p:sp>
      <p:sp>
        <p:nvSpPr>
          <p:cNvPr id="9" name="Text 7"/>
          <p:cNvSpPr/>
          <p:nvPr/>
        </p:nvSpPr>
        <p:spPr>
          <a:xfrm>
            <a:off x="7750493" y="5183981"/>
            <a:ext cx="278701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Package #2</a:t>
            </a:r>
            <a:endParaRPr lang="en-US" sz="1800" dirty="0"/>
          </a:p>
        </p:txBody>
      </p:sp>
      <p:sp>
        <p:nvSpPr>
          <p:cNvPr id="10" name="Text 8"/>
          <p:cNvSpPr/>
          <p:nvPr/>
        </p:nvSpPr>
        <p:spPr>
          <a:xfrm>
            <a:off x="7750493" y="5541169"/>
            <a:ext cx="2787015" cy="247650"/>
          </a:xfrm>
          <a:prstGeom prst="rect">
            <a:avLst/>
          </a:prstGeom>
          <a:noFill/>
          <a:ln/>
        </p:spPr>
        <p:txBody>
          <a:bodyPr wrap="square" lIns="25400" tIns="25400" rIns="25400" bIns="25400" rtlCol="0" anchor="t">
            <a:normAutofit/>
          </a:bodyPr>
          <a:lstStyle/>
          <a:p>
            <a:pPr algn="ctr" indent="0" marL="0">
              <a:buNone/>
            </a:pPr>
            <a:r>
              <a:rPr lang="en-US" sz="1425" dirty="0">
                <a:solidFill>
                  <a:srgbClr val="98A2B8"/>
                </a:solidFill>
                <a:latin typeface="Courier New" pitchFamily="34" charset="0"/>
                <a:ea typeface="Courier New" pitchFamily="34" charset="-122"/>
                <a:cs typeface="Courier New" pitchFamily="34" charset="-120"/>
              </a:rPr>
              <a:t>hash(prev + data)</a:t>
            </a:r>
            <a:endParaRPr lang="en-US" sz="1425" dirty="0"/>
          </a:p>
        </p:txBody>
      </p:sp>
      <p:sp>
        <p:nvSpPr>
          <p:cNvPr id="11" name="Text 9"/>
          <p:cNvSpPr/>
          <p:nvPr/>
        </p:nvSpPr>
        <p:spPr>
          <a:xfrm>
            <a:off x="10991850" y="5214938"/>
            <a:ext cx="506730" cy="542925"/>
          </a:xfrm>
          <a:prstGeom prst="rect">
            <a:avLst/>
          </a:prstGeom>
          <a:noFill/>
          <a:ln/>
        </p:spPr>
        <p:txBody>
          <a:bodyPr wrap="square" lIns="25400" tIns="25400" rIns="25400" bIns="25400" rtlCol="0" anchor="t">
            <a:normAutofit/>
          </a:bodyPr>
          <a:lstStyle/>
          <a:p>
            <a:pPr algn="l" indent="0" marL="0">
              <a:buNone/>
            </a:pPr>
            <a:r>
              <a:rPr lang="en-US" sz="3300" dirty="0">
                <a:solidFill>
                  <a:srgbClr val="35D499"/>
                </a:solidFill>
                <a:latin typeface="Arial" pitchFamily="34" charset="0"/>
                <a:ea typeface="Arial" pitchFamily="34" charset="-122"/>
                <a:cs typeface="Arial" pitchFamily="34" charset="-120"/>
              </a:rPr>
              <a:t>→</a:t>
            </a:r>
            <a:endParaRPr lang="en-US" sz="3300" dirty="0"/>
          </a:p>
        </p:txBody>
      </p:sp>
      <p:sp>
        <p:nvSpPr>
          <p:cNvPr id="12" name="Shape 10"/>
          <p:cNvSpPr/>
          <p:nvPr/>
        </p:nvSpPr>
        <p:spPr>
          <a:xfrm>
            <a:off x="11639550" y="4869656"/>
            <a:ext cx="3238500" cy="1195388"/>
          </a:xfrm>
          <a:prstGeom prst="rect">
            <a:avLst/>
          </a:prstGeom>
          <a:ln w="9525">
            <a:solidFill>
              <a:srgbClr val="35D499"/>
            </a:solidFill>
            <a:prstDash val="solid"/>
          </a:ln>
        </p:spPr>
      </p:sp>
      <p:sp>
        <p:nvSpPr>
          <p:cNvPr id="13" name="Text 11"/>
          <p:cNvSpPr/>
          <p:nvPr/>
        </p:nvSpPr>
        <p:spPr>
          <a:xfrm>
            <a:off x="11865293" y="5183981"/>
            <a:ext cx="2787015" cy="300038"/>
          </a:xfrm>
          <a:prstGeom prst="rect">
            <a:avLst/>
          </a:prstGeom>
          <a:noFill/>
          <a:ln/>
        </p:spPr>
        <p:txBody>
          <a:bodyPr wrap="square" lIns="25400" tIns="25400" rIns="25400" bIns="25400" rtlCol="0" anchor="t">
            <a:normAutofit/>
          </a:bodyPr>
          <a:lstStyle/>
          <a:p>
            <a:pPr algn="ctr" indent="0" marL="0">
              <a:buNone/>
            </a:pPr>
            <a:r>
              <a:rPr lang="en-US" sz="1800" b="1" dirty="0">
                <a:solidFill>
                  <a:srgbClr val="F4F6FB"/>
                </a:solidFill>
                <a:latin typeface="Arial" pitchFamily="34" charset="0"/>
                <a:ea typeface="Arial" pitchFamily="34" charset="-122"/>
                <a:cs typeface="Arial" pitchFamily="34" charset="-120"/>
              </a:rPr>
              <a:t>Package #3</a:t>
            </a:r>
            <a:endParaRPr lang="en-US" sz="1800" dirty="0"/>
          </a:p>
        </p:txBody>
      </p:sp>
      <p:sp>
        <p:nvSpPr>
          <p:cNvPr id="14" name="Text 12"/>
          <p:cNvSpPr/>
          <p:nvPr/>
        </p:nvSpPr>
        <p:spPr>
          <a:xfrm>
            <a:off x="11865293" y="5541169"/>
            <a:ext cx="2787015" cy="247650"/>
          </a:xfrm>
          <a:prstGeom prst="rect">
            <a:avLst/>
          </a:prstGeom>
          <a:noFill/>
          <a:ln/>
        </p:spPr>
        <p:txBody>
          <a:bodyPr wrap="square" lIns="25400" tIns="25400" rIns="25400" bIns="25400" rtlCol="0" anchor="t">
            <a:normAutofit/>
          </a:bodyPr>
          <a:lstStyle/>
          <a:p>
            <a:pPr algn="ctr" indent="0" marL="0">
              <a:buNone/>
            </a:pPr>
            <a:r>
              <a:rPr lang="en-US" sz="1425" dirty="0">
                <a:solidFill>
                  <a:srgbClr val="98A2B8"/>
                </a:solidFill>
                <a:latin typeface="Courier New" pitchFamily="34" charset="0"/>
                <a:ea typeface="Courier New" pitchFamily="34" charset="-122"/>
                <a:cs typeface="Courier New" pitchFamily="34" charset="-120"/>
              </a:rPr>
              <a:t>hash(prev + data)</a:t>
            </a:r>
            <a:endParaRPr lang="en-US" sz="1425" dirty="0"/>
          </a:p>
        </p:txBody>
      </p:sp>
      <p:sp>
        <p:nvSpPr>
          <p:cNvPr id="15" name="Text 13"/>
          <p:cNvSpPr/>
          <p:nvPr/>
        </p:nvSpPr>
        <p:spPr>
          <a:xfrm>
            <a:off x="238125" y="8339137"/>
            <a:ext cx="17811750" cy="361950"/>
          </a:xfrm>
          <a:prstGeom prst="rect">
            <a:avLst/>
          </a:prstGeom>
          <a:noFill/>
          <a:ln/>
        </p:spPr>
        <p:txBody>
          <a:bodyPr wrap="square" lIns="25400" tIns="25400" rIns="25400" bIns="25400" rtlCol="0" anchor="t">
            <a:normAutofit/>
          </a:bodyPr>
          <a:lstStyle/>
          <a:p>
            <a:pPr algn="ctr" indent="0" marL="0">
              <a:buNone/>
            </a:pPr>
            <a:r>
              <a:rPr lang="en-US" sz="2100" dirty="0">
                <a:solidFill>
                  <a:srgbClr val="98A2B8"/>
                </a:solidFill>
                <a:latin typeface="Arial" pitchFamily="34" charset="0"/>
                <a:ea typeface="Arial" pitchFamily="34" charset="-122"/>
                <a:cs typeface="Arial" pitchFamily="34" charset="-120"/>
              </a:rPr>
              <a:t>Edit any past package → its hash no longer matches → every later link breaks, provably.</a:t>
            </a:r>
            <a:endParaRPr lang="en-US" sz="2100" dirty="0"/>
          </a:p>
        </p:txBody>
      </p:sp>
      <p:sp>
        <p:nvSpPr>
          <p:cNvPr id="16" name="Shape 14"/>
          <p:cNvSpPr/>
          <p:nvPr/>
        </p:nvSpPr>
        <p:spPr>
          <a:xfrm>
            <a:off x="1047750" y="9005888"/>
            <a:ext cx="16192500" cy="9525"/>
          </a:xfrm>
          <a:prstGeom prst="rect">
            <a:avLst/>
          </a:prstGeom>
          <a:solidFill>
            <a:srgbClr val="F4F6FB">
              <a:alpha val="12000"/>
            </a:srgbClr>
          </a:solidFill>
          <a:ln/>
        </p:spPr>
      </p:sp>
      <p:sp>
        <p:nvSpPr>
          <p:cNvPr id="17" name="Text 15"/>
          <p:cNvSpPr/>
          <p:nvPr/>
        </p:nvSpPr>
        <p:spPr>
          <a:xfrm>
            <a:off x="1047750" y="9244013"/>
            <a:ext cx="16678275"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Directly answers the brief's requirement: intelligence packages must be auditable for legal admissibility.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CROSS-JURISDICTION INTELLIGENCE</a:t>
            </a:r>
            <a:endParaRPr lang="en-US" sz="1650" dirty="0"/>
          </a:p>
        </p:txBody>
      </p:sp>
      <p:sp>
        <p:nvSpPr>
          <p:cNvPr id="3" name="Text 1"/>
          <p:cNvSpPr/>
          <p:nvPr/>
        </p:nvSpPr>
        <p:spPr>
          <a:xfrm>
            <a:off x="1047750" y="1381125"/>
            <a:ext cx="15697200" cy="1704975"/>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No single police station sees the whole ring. We do.</a:t>
            </a:r>
            <a:endParaRPr lang="en-US" sz="5700" dirty="0"/>
          </a:p>
        </p:txBody>
      </p:sp>
      <p:sp>
        <p:nvSpPr>
          <p:cNvPr id="4" name="Shape 2"/>
          <p:cNvSpPr/>
          <p:nvPr/>
        </p:nvSpPr>
        <p:spPr>
          <a:xfrm>
            <a:off x="1047750" y="4038600"/>
            <a:ext cx="7839075" cy="4953000"/>
          </a:xfrm>
          <a:prstGeom prst="rect">
            <a:avLst/>
          </a:prstGeom>
          <a:solidFill>
            <a:srgbClr val="4F7FFF">
              <a:alpha val="5000"/>
            </a:srgbClr>
          </a:solidFill>
          <a:ln w="9525">
            <a:solidFill>
              <a:srgbClr val="F4F6FB">
                <a:alpha val="12000"/>
              </a:srgbClr>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57275" y="4048125"/>
            <a:ext cx="7820025" cy="4933950"/>
          </a:xfrm>
          <a:prstGeom prst="rect">
            <a:avLst/>
          </a:prstGeom>
        </p:spPr>
      </p:pic>
      <p:sp>
        <p:nvSpPr>
          <p:cNvPr id="6" name="Text 3"/>
          <p:cNvSpPr/>
          <p:nvPr/>
        </p:nvSpPr>
        <p:spPr>
          <a:xfrm>
            <a:off x="1247775" y="8620125"/>
            <a:ext cx="5033784" cy="247650"/>
          </a:xfrm>
          <a:prstGeom prst="rect">
            <a:avLst/>
          </a:prstGeom>
          <a:noFill/>
          <a:ln/>
        </p:spPr>
        <p:txBody>
          <a:bodyPr wrap="square" lIns="25400" tIns="25400" rIns="25400" bIns="25400" rtlCol="0" anchor="t">
            <a:normAutofit/>
          </a:bodyPr>
          <a:lstStyle/>
          <a:p>
            <a:pPr algn="l" indent="0" marL="0">
              <a:buNone/>
            </a:pPr>
            <a:r>
              <a:rPr lang="en-US" sz="1425" dirty="0">
                <a:solidFill>
                  <a:srgbClr val="98A2B8"/>
                </a:solidFill>
                <a:latin typeface="Courier New" pitchFamily="34" charset="0"/>
                <a:ea typeface="Courier New" pitchFamily="34" charset="-122"/>
                <a:cs typeface="Courier New" pitchFamily="34" charset="-120"/>
              </a:rPr>
              <a:t>DBSCAN geo-cluster · one ring, four states</a:t>
            </a:r>
            <a:endParaRPr lang="en-US" sz="1425" dirty="0"/>
          </a:p>
        </p:txBody>
      </p:sp>
      <p:sp>
        <p:nvSpPr>
          <p:cNvPr id="7" name="Text 4"/>
          <p:cNvSpPr/>
          <p:nvPr/>
        </p:nvSpPr>
        <p:spPr>
          <a:xfrm>
            <a:off x="9420225" y="5348288"/>
            <a:ext cx="8054626" cy="657225"/>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Victims and mule accounts, geo-clustered by DBSCAN, plotted independent of administrative boundaries.</a:t>
            </a:r>
            <a:endParaRPr lang="en-US" sz="2100" dirty="0"/>
          </a:p>
        </p:txBody>
      </p:sp>
      <p:sp>
        <p:nvSpPr>
          <p:cNvPr id="8" name="Text 5"/>
          <p:cNvSpPr/>
          <p:nvPr/>
        </p:nvSpPr>
        <p:spPr>
          <a:xfrm>
            <a:off x="9420225" y="6234113"/>
            <a:ext cx="8054626" cy="657225"/>
          </a:xfrm>
          <a:prstGeom prst="rect">
            <a:avLst/>
          </a:prstGeom>
          <a:noFill/>
          <a:ln/>
        </p:spPr>
        <p:txBody>
          <a:bodyPr wrap="square" lIns="25400" tIns="25400" rIns="25400" bIns="25400" rtlCol="0" anchor="t">
            <a:normAutofit/>
          </a:bodyPr>
          <a:lstStyle/>
          <a:p>
            <a:pPr algn="l" indent="0" marL="0">
              <a:buNone/>
            </a:pPr>
            <a:r>
              <a:rPr lang="en-US" sz="2100" b="1" dirty="0">
                <a:solidFill>
                  <a:srgbClr val="F4F6FB"/>
                </a:solidFill>
                <a:latin typeface="Arial" pitchFamily="34" charset="0"/>
                <a:ea typeface="Arial" pitchFamily="34" charset="-122"/>
                <a:cs typeface="Arial" pitchFamily="34" charset="-120"/>
              </a:rPr>
              <a:t>A live map and rotating globe view let an investigator see a ring's full geographic footprint in one screen.</a:t>
            </a:r>
            <a:endParaRPr lang="en-US" sz="2100" dirty="0"/>
          </a:p>
        </p:txBody>
      </p:sp>
      <p:sp>
        <p:nvSpPr>
          <p:cNvPr id="9" name="Text 6"/>
          <p:cNvSpPr/>
          <p:nvPr/>
        </p:nvSpPr>
        <p:spPr>
          <a:xfrm>
            <a:off x="9420225" y="7119938"/>
            <a:ext cx="8054626" cy="600075"/>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Local jurisdiction only sees its own complaints. This is the view that connects them.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JUDGING CRITERIA SCORECARD</a:t>
            </a:r>
            <a:endParaRPr lang="en-US" sz="1650" dirty="0"/>
          </a:p>
        </p:txBody>
      </p:sp>
      <p:sp>
        <p:nvSpPr>
          <p:cNvPr id="3" name="Text 1"/>
          <p:cNvSpPr/>
          <p:nvPr/>
        </p:nvSpPr>
        <p:spPr>
          <a:xfrm>
            <a:off x="1047750" y="1381125"/>
            <a:ext cx="17811750" cy="871538"/>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Every point of the rubric, answered by a feature</a:t>
            </a:r>
            <a:endParaRPr lang="en-US" sz="5700" dirty="0"/>
          </a:p>
        </p:txBody>
      </p:sp>
      <p:sp>
        <p:nvSpPr>
          <p:cNvPr id="4" name="Shape 2"/>
          <p:cNvSpPr/>
          <p:nvPr/>
        </p:nvSpPr>
        <p:spPr>
          <a:xfrm>
            <a:off x="1047750" y="2671763"/>
            <a:ext cx="16192500" cy="9525"/>
          </a:xfrm>
          <a:prstGeom prst="rect">
            <a:avLst/>
          </a:prstGeom>
          <a:solidFill>
            <a:srgbClr val="F4F6FB">
              <a:alpha val="12000"/>
            </a:srgbClr>
          </a:solidFill>
          <a:ln/>
        </p:spPr>
      </p:sp>
      <p:sp>
        <p:nvSpPr>
          <p:cNvPr id="5" name="Shape 3"/>
          <p:cNvSpPr/>
          <p:nvPr/>
        </p:nvSpPr>
        <p:spPr>
          <a:xfrm>
            <a:off x="1047750" y="3386138"/>
            <a:ext cx="16192500" cy="9525"/>
          </a:xfrm>
          <a:prstGeom prst="rect">
            <a:avLst/>
          </a:prstGeom>
          <a:solidFill>
            <a:srgbClr val="F4F6FB">
              <a:alpha val="12000"/>
            </a:srgbClr>
          </a:solidFill>
          <a:ln/>
        </p:spPr>
      </p:sp>
      <p:sp>
        <p:nvSpPr>
          <p:cNvPr id="6" name="Text 4"/>
          <p:cNvSpPr/>
          <p:nvPr/>
        </p:nvSpPr>
        <p:spPr>
          <a:xfrm>
            <a:off x="1047750" y="2890838"/>
            <a:ext cx="44005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Innovation</a:t>
            </a:r>
            <a:endParaRPr lang="en-US" sz="1950" dirty="0"/>
          </a:p>
        </p:txBody>
      </p:sp>
      <p:sp>
        <p:nvSpPr>
          <p:cNvPr id="7" name="Text 5"/>
          <p:cNvSpPr/>
          <p:nvPr/>
        </p:nvSpPr>
        <p:spPr>
          <a:xfrm>
            <a:off x="5048250" y="2890838"/>
            <a:ext cx="12192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25%</a:t>
            </a:r>
            <a:endParaRPr lang="en-US" sz="1950" dirty="0"/>
          </a:p>
        </p:txBody>
      </p:sp>
      <p:sp>
        <p:nvSpPr>
          <p:cNvPr id="8" name="Text 6"/>
          <p:cNvSpPr/>
          <p:nvPr/>
        </p:nvSpPr>
        <p:spPr>
          <a:xfrm>
            <a:off x="6191250" y="2893219"/>
            <a:ext cx="1215390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Tool-calling, ID-citing agent + hash-chained court-admissible packages</a:t>
            </a:r>
            <a:endParaRPr lang="en-US" sz="1800" dirty="0"/>
          </a:p>
        </p:txBody>
      </p:sp>
      <p:sp>
        <p:nvSpPr>
          <p:cNvPr id="9" name="Shape 7"/>
          <p:cNvSpPr/>
          <p:nvPr/>
        </p:nvSpPr>
        <p:spPr>
          <a:xfrm>
            <a:off x="1047750" y="4100513"/>
            <a:ext cx="16192500" cy="9525"/>
          </a:xfrm>
          <a:prstGeom prst="rect">
            <a:avLst/>
          </a:prstGeom>
          <a:solidFill>
            <a:srgbClr val="F4F6FB">
              <a:alpha val="12000"/>
            </a:srgbClr>
          </a:solidFill>
          <a:ln/>
        </p:spPr>
      </p:sp>
      <p:sp>
        <p:nvSpPr>
          <p:cNvPr id="10" name="Text 8"/>
          <p:cNvSpPr/>
          <p:nvPr/>
        </p:nvSpPr>
        <p:spPr>
          <a:xfrm>
            <a:off x="1047750" y="3605213"/>
            <a:ext cx="44005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Business Impact</a:t>
            </a:r>
            <a:endParaRPr lang="en-US" sz="1950" dirty="0"/>
          </a:p>
        </p:txBody>
      </p:sp>
      <p:sp>
        <p:nvSpPr>
          <p:cNvPr id="11" name="Text 9"/>
          <p:cNvSpPr/>
          <p:nvPr/>
        </p:nvSpPr>
        <p:spPr>
          <a:xfrm>
            <a:off x="5048250" y="3605213"/>
            <a:ext cx="12192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25%</a:t>
            </a:r>
            <a:endParaRPr lang="en-US" sz="1950" dirty="0"/>
          </a:p>
        </p:txBody>
      </p:sp>
      <p:sp>
        <p:nvSpPr>
          <p:cNvPr id="12" name="Text 10"/>
          <p:cNvSpPr/>
          <p:nvPr/>
        </p:nvSpPr>
        <p:spPr>
          <a:xfrm>
            <a:off x="6191250" y="3607594"/>
            <a:ext cx="1215390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The lead-time number — victims prevented if acted on earlier</a:t>
            </a:r>
            <a:endParaRPr lang="en-US" sz="1800" dirty="0"/>
          </a:p>
        </p:txBody>
      </p:sp>
      <p:sp>
        <p:nvSpPr>
          <p:cNvPr id="13" name="Shape 11"/>
          <p:cNvSpPr/>
          <p:nvPr/>
        </p:nvSpPr>
        <p:spPr>
          <a:xfrm>
            <a:off x="1047750" y="4814888"/>
            <a:ext cx="16192500" cy="9525"/>
          </a:xfrm>
          <a:prstGeom prst="rect">
            <a:avLst/>
          </a:prstGeom>
          <a:solidFill>
            <a:srgbClr val="F4F6FB">
              <a:alpha val="12000"/>
            </a:srgbClr>
          </a:solidFill>
          <a:ln/>
        </p:spPr>
      </p:sp>
      <p:sp>
        <p:nvSpPr>
          <p:cNvPr id="14" name="Text 12"/>
          <p:cNvSpPr/>
          <p:nvPr/>
        </p:nvSpPr>
        <p:spPr>
          <a:xfrm>
            <a:off x="1047750" y="4319588"/>
            <a:ext cx="44005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Technical Excellence</a:t>
            </a:r>
            <a:endParaRPr lang="en-US" sz="1950" dirty="0"/>
          </a:p>
        </p:txBody>
      </p:sp>
      <p:sp>
        <p:nvSpPr>
          <p:cNvPr id="15" name="Text 13"/>
          <p:cNvSpPr/>
          <p:nvPr/>
        </p:nvSpPr>
        <p:spPr>
          <a:xfrm>
            <a:off x="5048250" y="4319588"/>
            <a:ext cx="12192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20%</a:t>
            </a:r>
            <a:endParaRPr lang="en-US" sz="1950" dirty="0"/>
          </a:p>
        </p:txBody>
      </p:sp>
      <p:sp>
        <p:nvSpPr>
          <p:cNvPr id="16" name="Text 14"/>
          <p:cNvSpPr/>
          <p:nvPr/>
        </p:nvSpPr>
        <p:spPr>
          <a:xfrm>
            <a:off x="6191250" y="4321969"/>
            <a:ext cx="1215390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Louvain, betweenness, WCC, shortest-path — verified against real data, not just claimed</a:t>
            </a:r>
            <a:endParaRPr lang="en-US" sz="1800" dirty="0"/>
          </a:p>
        </p:txBody>
      </p:sp>
      <p:sp>
        <p:nvSpPr>
          <p:cNvPr id="17" name="Shape 15"/>
          <p:cNvSpPr/>
          <p:nvPr/>
        </p:nvSpPr>
        <p:spPr>
          <a:xfrm>
            <a:off x="1047750" y="5529263"/>
            <a:ext cx="16192500" cy="9525"/>
          </a:xfrm>
          <a:prstGeom prst="rect">
            <a:avLst/>
          </a:prstGeom>
          <a:solidFill>
            <a:srgbClr val="F4F6FB">
              <a:alpha val="12000"/>
            </a:srgbClr>
          </a:solidFill>
          <a:ln/>
        </p:spPr>
      </p:sp>
      <p:sp>
        <p:nvSpPr>
          <p:cNvPr id="18" name="Text 16"/>
          <p:cNvSpPr/>
          <p:nvPr/>
        </p:nvSpPr>
        <p:spPr>
          <a:xfrm>
            <a:off x="1047750" y="5033963"/>
            <a:ext cx="44005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Scalability</a:t>
            </a:r>
            <a:endParaRPr lang="en-US" sz="1950" dirty="0"/>
          </a:p>
        </p:txBody>
      </p:sp>
      <p:sp>
        <p:nvSpPr>
          <p:cNvPr id="19" name="Text 17"/>
          <p:cNvSpPr/>
          <p:nvPr/>
        </p:nvSpPr>
        <p:spPr>
          <a:xfrm>
            <a:off x="5048250" y="5033963"/>
            <a:ext cx="12192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15%</a:t>
            </a:r>
            <a:endParaRPr lang="en-US" sz="1950" dirty="0"/>
          </a:p>
        </p:txBody>
      </p:sp>
      <p:sp>
        <p:nvSpPr>
          <p:cNvPr id="20" name="Text 18"/>
          <p:cNvSpPr/>
          <p:nvPr/>
        </p:nvSpPr>
        <p:spPr>
          <a:xfrm>
            <a:off x="6191250" y="5036344"/>
            <a:ext cx="1215390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Modular monolith today, no hard dependency on Neo4j or the LLM</a:t>
            </a:r>
            <a:endParaRPr lang="en-US" sz="1800" dirty="0"/>
          </a:p>
        </p:txBody>
      </p:sp>
      <p:sp>
        <p:nvSpPr>
          <p:cNvPr id="21" name="Text 19"/>
          <p:cNvSpPr/>
          <p:nvPr/>
        </p:nvSpPr>
        <p:spPr>
          <a:xfrm>
            <a:off x="1047750" y="5748338"/>
            <a:ext cx="44005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UX</a:t>
            </a:r>
            <a:endParaRPr lang="en-US" sz="1950" dirty="0"/>
          </a:p>
        </p:txBody>
      </p:sp>
      <p:sp>
        <p:nvSpPr>
          <p:cNvPr id="22" name="Text 20"/>
          <p:cNvSpPr/>
          <p:nvPr/>
        </p:nvSpPr>
        <p:spPr>
          <a:xfrm>
            <a:off x="5048250" y="5748338"/>
            <a:ext cx="121920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15%</a:t>
            </a:r>
            <a:endParaRPr lang="en-US" sz="1950" dirty="0"/>
          </a:p>
        </p:txBody>
      </p:sp>
      <p:sp>
        <p:nvSpPr>
          <p:cNvPr id="23" name="Text 21"/>
          <p:cNvSpPr/>
          <p:nvPr/>
        </p:nvSpPr>
        <p:spPr>
          <a:xfrm>
            <a:off x="6191250" y="5750719"/>
            <a:ext cx="12153900"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One command centre — graph, map, agent and evidence in a single flow</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047750" y="952500"/>
            <a:ext cx="17811750" cy="276225"/>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4F7FFF"/>
                </a:solidFill>
                <a:latin typeface="Arial" pitchFamily="34" charset="0"/>
                <a:ea typeface="Arial" pitchFamily="34" charset="-122"/>
                <a:cs typeface="Arial" pitchFamily="34" charset="-120"/>
              </a:rPr>
              <a:t>SCALABILITY &amp; WHAT'S NEXT</a:t>
            </a:r>
            <a:endParaRPr lang="en-US" sz="1650" dirty="0"/>
          </a:p>
        </p:txBody>
      </p:sp>
      <p:sp>
        <p:nvSpPr>
          <p:cNvPr id="3" name="Text 1"/>
          <p:cNvSpPr/>
          <p:nvPr/>
        </p:nvSpPr>
        <p:spPr>
          <a:xfrm>
            <a:off x="1047750" y="1381125"/>
            <a:ext cx="16764000" cy="871538"/>
          </a:xfrm>
          <a:prstGeom prst="rect">
            <a:avLst/>
          </a:prstGeom>
          <a:noFill/>
          <a:ln/>
        </p:spPr>
        <p:txBody>
          <a:bodyPr wrap="square" lIns="25400" tIns="25400" rIns="25400" bIns="25400" rtlCol="0" anchor="t">
            <a:normAutofit/>
          </a:bodyPr>
          <a:lstStyle/>
          <a:p>
            <a:pPr algn="l" indent="0" marL="0">
              <a:buNone/>
            </a:pPr>
            <a:r>
              <a:rPr lang="en-US" sz="5700" b="1" spc="-112" kern="0" dirty="0">
                <a:solidFill>
                  <a:srgbClr val="F4F6FB"/>
                </a:solidFill>
                <a:latin typeface="Arial" pitchFamily="34" charset="0"/>
                <a:ea typeface="Arial" pitchFamily="34" charset="-122"/>
                <a:cs typeface="Arial" pitchFamily="34" charset="-120"/>
              </a:rPr>
              <a:t>Deliberately scoped narrow today, built to grow</a:t>
            </a:r>
            <a:endParaRPr lang="en-US" sz="5700" dirty="0"/>
          </a:p>
        </p:txBody>
      </p:sp>
      <p:sp>
        <p:nvSpPr>
          <p:cNvPr id="4" name="Text 2"/>
          <p:cNvSpPr/>
          <p:nvPr/>
        </p:nvSpPr>
        <p:spPr>
          <a:xfrm>
            <a:off x="1047750" y="2786063"/>
            <a:ext cx="8313896"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4F7FFF"/>
                </a:solidFill>
                <a:latin typeface="Arial" pitchFamily="34" charset="0"/>
                <a:ea typeface="Arial" pitchFamily="34" charset="-122"/>
                <a:cs typeface="Arial" pitchFamily="34" charset="-120"/>
              </a:rPr>
              <a:t>Today → National scale</a:t>
            </a:r>
            <a:endParaRPr lang="en-US" sz="1950" dirty="0"/>
          </a:p>
        </p:txBody>
      </p:sp>
      <p:sp>
        <p:nvSpPr>
          <p:cNvPr id="5" name="Text 3"/>
          <p:cNvSpPr/>
          <p:nvPr/>
        </p:nvSpPr>
        <p:spPr>
          <a:xfrm>
            <a:off x="1047750" y="3300413"/>
            <a:ext cx="7784830" cy="600075"/>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Modular monolith → microservice split along existing internal boundaries</a:t>
            </a:r>
            <a:endParaRPr lang="en-US" sz="1800" dirty="0"/>
          </a:p>
        </p:txBody>
      </p:sp>
      <p:sp>
        <p:nvSpPr>
          <p:cNvPr id="6" name="Text 4"/>
          <p:cNvSpPr/>
          <p:nvPr/>
        </p:nvSpPr>
        <p:spPr>
          <a:xfrm>
            <a:off x="1047750" y="4090987"/>
            <a:ext cx="8313896"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Batch pipeline → queue-based ingestion for continuous volume</a:t>
            </a:r>
            <a:endParaRPr lang="en-US" sz="1800" dirty="0"/>
          </a:p>
        </p:txBody>
      </p:sp>
      <p:sp>
        <p:nvSpPr>
          <p:cNvPr id="7" name="Text 5"/>
          <p:cNvSpPr/>
          <p:nvPr/>
        </p:nvSpPr>
        <p:spPr>
          <a:xfrm>
            <a:off x="1047750" y="4714875"/>
            <a:ext cx="8313896"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35D499"/>
                </a:solidFill>
                <a:latin typeface="Arial" pitchFamily="34" charset="0"/>
                <a:ea typeface="Arial" pitchFamily="34" charset="-122"/>
                <a:cs typeface="Arial" pitchFamily="34" charset="-120"/>
              </a:rPr>
              <a:t>A deliberate choice, not a gap</a:t>
            </a:r>
            <a:endParaRPr lang="en-US" sz="1950" dirty="0"/>
          </a:p>
        </p:txBody>
      </p:sp>
      <p:sp>
        <p:nvSpPr>
          <p:cNvPr id="8" name="Text 6"/>
          <p:cNvSpPr/>
          <p:nvPr/>
        </p:nvSpPr>
        <p:spPr>
          <a:xfrm>
            <a:off x="1047750" y="5229225"/>
            <a:ext cx="7784830" cy="881063"/>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Counterfeit-currency computer vision and call interception were scoped out — different tech stacks entirely. We went deep on the highest-leverage track instead of wide across five shallow ones.</a:t>
            </a:r>
            <a:endParaRPr lang="en-US" sz="1800" dirty="0"/>
          </a:p>
        </p:txBody>
      </p:sp>
      <p:sp>
        <p:nvSpPr>
          <p:cNvPr id="9" name="Shape 7"/>
          <p:cNvSpPr/>
          <p:nvPr/>
        </p:nvSpPr>
        <p:spPr>
          <a:xfrm>
            <a:off x="9139238" y="2786063"/>
            <a:ext cx="9525" cy="6738938"/>
          </a:xfrm>
          <a:prstGeom prst="rect">
            <a:avLst/>
          </a:prstGeom>
          <a:solidFill>
            <a:srgbClr val="F4F6FB">
              <a:alpha val="12000"/>
            </a:srgbClr>
          </a:solidFill>
          <a:ln/>
        </p:spPr>
      </p:sp>
      <p:sp>
        <p:nvSpPr>
          <p:cNvPr id="10" name="Text 8"/>
          <p:cNvSpPr/>
          <p:nvPr/>
        </p:nvSpPr>
        <p:spPr>
          <a:xfrm>
            <a:off x="9682163" y="5248275"/>
            <a:ext cx="8313896"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4F6FB"/>
                </a:solidFill>
                <a:latin typeface="Arial" pitchFamily="34" charset="0"/>
                <a:ea typeface="Arial" pitchFamily="34" charset="-122"/>
                <a:cs typeface="Arial" pitchFamily="34" charset="-120"/>
              </a:rPr>
              <a:t>Roadmap</a:t>
            </a:r>
            <a:endParaRPr lang="en-US" sz="1950" dirty="0"/>
          </a:p>
        </p:txBody>
      </p:sp>
      <p:sp>
        <p:nvSpPr>
          <p:cNvPr id="11" name="Text 9"/>
          <p:cNvSpPr/>
          <p:nvPr/>
        </p:nvSpPr>
        <p:spPr>
          <a:xfrm>
            <a:off x="9682163" y="5800725"/>
            <a:ext cx="8313896"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 RandomForest → XGBoost + SHAP, per-feature attribution</a:t>
            </a:r>
            <a:endParaRPr lang="en-US" sz="1800" dirty="0"/>
          </a:p>
        </p:txBody>
      </p:sp>
      <p:sp>
        <p:nvSpPr>
          <p:cNvPr id="12" name="Text 10"/>
          <p:cNvSpPr/>
          <p:nvPr/>
        </p:nvSpPr>
        <p:spPr>
          <a:xfrm>
            <a:off x="9682163" y="6291263"/>
            <a:ext cx="8313896"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 Live Neo4j-backed graph view</a:t>
            </a:r>
            <a:endParaRPr lang="en-US" sz="1800" dirty="0"/>
          </a:p>
        </p:txBody>
      </p:sp>
      <p:sp>
        <p:nvSpPr>
          <p:cNvPr id="13" name="Text 11"/>
          <p:cNvSpPr/>
          <p:nvPr/>
        </p:nvSpPr>
        <p:spPr>
          <a:xfrm>
            <a:off x="9682163" y="6781800"/>
            <a:ext cx="8313896" cy="319088"/>
          </a:xfrm>
          <a:prstGeom prst="rect">
            <a:avLst/>
          </a:prstGeom>
          <a:noFill/>
          <a:ln/>
        </p:spPr>
        <p:txBody>
          <a:bodyPr wrap="square" lIns="25400" tIns="25400" rIns="25400" bIns="25400" rtlCol="0" anchor="t">
            <a:normAutofit/>
          </a:bodyPr>
          <a:lstStyle/>
          <a:p>
            <a:pPr algn="l" indent="0" marL="0">
              <a:buNone/>
            </a:pPr>
            <a:r>
              <a:rPr lang="en-US" sz="1800" dirty="0">
                <a:solidFill>
                  <a:srgbClr val="98A2B8"/>
                </a:solidFill>
                <a:latin typeface="Arial" pitchFamily="34" charset="0"/>
                <a:ea typeface="Arial" pitchFamily="34" charset="-122"/>
                <a:cs typeface="Arial" pitchFamily="34" charset="-120"/>
              </a:rPr>
              <a:t>· Citizen-facing fraud-check widget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F7FFF">
                  <a:alpha val="14000"/>
                </a:srgbClr>
              </a:gs>
              <a:gs pos="70000">
                <a:srgbClr val="4F7FFF">
                  <a:alpha val="0"/>
                </a:srgbClr>
              </a:gs>
            </a:gsLst>
            <a:path path="circle">
              <a:fillToRect l="18000" t="85000" r="82000" b="15000"/>
            </a:path>
          </a:gradFill>
          <a:ln/>
        </p:spPr>
      </p:sp>
      <p:sp>
        <p:nvSpPr>
          <p:cNvPr id="3" name="Text 1"/>
          <p:cNvSpPr/>
          <p:nvPr/>
        </p:nvSpPr>
        <p:spPr>
          <a:xfrm>
            <a:off x="6861215" y="3643313"/>
            <a:ext cx="4565571" cy="1090613"/>
          </a:xfrm>
          <a:prstGeom prst="rect">
            <a:avLst/>
          </a:prstGeom>
          <a:noFill/>
          <a:ln/>
        </p:spPr>
        <p:txBody>
          <a:bodyPr wrap="square" lIns="25400" tIns="25400" rIns="25400" bIns="25400" rtlCol="0" anchor="t">
            <a:normAutofit/>
          </a:bodyPr>
          <a:lstStyle/>
          <a:p>
            <a:pPr algn="ctr" indent="0" marL="0">
              <a:buNone/>
            </a:pPr>
            <a:r>
              <a:rPr lang="en-US" sz="7200" b="1" spc="-150" kern="0" dirty="0">
                <a:solidFill>
                  <a:srgbClr val="F4F6FB"/>
                </a:solidFill>
                <a:latin typeface="Arial" pitchFamily="34" charset="0"/>
                <a:ea typeface="Arial" pitchFamily="34" charset="-122"/>
                <a:cs typeface="Arial" pitchFamily="34" charset="-120"/>
              </a:rPr>
              <a:t>Thank You</a:t>
            </a:r>
            <a:endParaRPr lang="en-US" sz="7200" dirty="0"/>
          </a:p>
        </p:txBody>
      </p:sp>
      <p:sp>
        <p:nvSpPr>
          <p:cNvPr id="4" name="Text 2"/>
          <p:cNvSpPr/>
          <p:nvPr/>
        </p:nvSpPr>
        <p:spPr>
          <a:xfrm>
            <a:off x="4436246" y="4962525"/>
            <a:ext cx="9415507" cy="500063"/>
          </a:xfrm>
          <a:prstGeom prst="rect">
            <a:avLst/>
          </a:prstGeom>
          <a:noFill/>
          <a:ln/>
        </p:spPr>
        <p:txBody>
          <a:bodyPr wrap="square" lIns="25400" tIns="25400" rIns="25400" bIns="25400" rtlCol="0" anchor="t">
            <a:normAutofit/>
          </a:bodyPr>
          <a:lstStyle/>
          <a:p>
            <a:pPr algn="ctr" indent="0" marL="0">
              <a:buNone/>
            </a:pPr>
            <a:r>
              <a:rPr lang="en-US" sz="3000" dirty="0">
                <a:solidFill>
                  <a:srgbClr val="98A2B8"/>
                </a:solidFill>
                <a:latin typeface="Arial" pitchFamily="34" charset="0"/>
                <a:ea typeface="Arial" pitchFamily="34" charset="-122"/>
                <a:cs typeface="Arial" pitchFamily="34" charset="-120"/>
              </a:rPr>
              <a:t>See the fraud network, not just the transaction.</a:t>
            </a:r>
            <a:endParaRPr lang="en-US" sz="3000" dirty="0"/>
          </a:p>
        </p:txBody>
      </p:sp>
      <p:sp>
        <p:nvSpPr>
          <p:cNvPr id="5" name="Text 3"/>
          <p:cNvSpPr/>
          <p:nvPr/>
        </p:nvSpPr>
        <p:spPr>
          <a:xfrm>
            <a:off x="7594893" y="6110288"/>
            <a:ext cx="3098066"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4F6FB"/>
                </a:solidFill>
                <a:latin typeface="Arial" pitchFamily="34" charset="0"/>
                <a:ea typeface="Arial" pitchFamily="34" charset="-122"/>
                <a:cs typeface="Arial" pitchFamily="34" charset="-120"/>
              </a:rPr>
              <a:t>Team CyberInvestigator</a:t>
            </a:r>
            <a:endParaRPr lang="en-US" sz="2100" dirty="0"/>
          </a:p>
        </p:txBody>
      </p:sp>
      <p:sp>
        <p:nvSpPr>
          <p:cNvPr id="6" name="Text 4"/>
          <p:cNvSpPr/>
          <p:nvPr/>
        </p:nvSpPr>
        <p:spPr>
          <a:xfrm>
            <a:off x="4847656" y="6553200"/>
            <a:ext cx="8592614" cy="319088"/>
          </a:xfrm>
          <a:prstGeom prst="rect">
            <a:avLst/>
          </a:prstGeom>
          <a:noFill/>
          <a:ln/>
        </p:spPr>
        <p:txBody>
          <a:bodyPr wrap="square" lIns="25400" tIns="25400" rIns="25400" bIns="25400" rtlCol="0" anchor="t">
            <a:normAutofit/>
          </a:bodyPr>
          <a:lstStyle/>
          <a:p>
            <a:pPr algn="ctr" indent="0" marL="0">
              <a:buNone/>
            </a:pPr>
            <a:r>
              <a:rPr lang="en-US" sz="1800" dirty="0">
                <a:solidFill>
                  <a:srgbClr val="4F7FFF"/>
                </a:solidFill>
                <a:latin typeface="Arial" pitchFamily="34" charset="0"/>
                <a:ea typeface="Arial" pitchFamily="34" charset="-122"/>
                <a:cs typeface="Arial" pitchFamily="34" charset="-120"/>
              </a:rPr>
              <a:t>github.com/AayushG10/cyber-intelligence-knowledge-base-investigator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2026-07-22T09:15:22Z</dcterms:created>
  <dcterms:modified xsi:type="dcterms:W3CDTF">2026-07-22T09:15:22Z</dcterms:modified>
</cp:coreProperties>
</file>